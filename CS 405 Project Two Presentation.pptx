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23"/>
  </p:notesMasterIdLst>
  <p:sldIdLst>
    <p:sldId id="256" r:id="rId5"/>
    <p:sldId id="257" r:id="rId6"/>
    <p:sldId id="258" r:id="rId7"/>
    <p:sldId id="259" r:id="rId8"/>
    <p:sldId id="260" r:id="rId9"/>
    <p:sldId id="261" r:id="rId10"/>
    <p:sldId id="262" r:id="rId11"/>
    <p:sldId id="263" r:id="rId12"/>
    <p:sldId id="272" r:id="rId13"/>
    <p:sldId id="271" r:id="rId14"/>
    <p:sldId id="270" r:id="rId15"/>
    <p:sldId id="273" r:id="rId16"/>
    <p:sldId id="264" r:id="rId17"/>
    <p:sldId id="265" r:id="rId18"/>
    <p:sldId id="266" r:id="rId19"/>
    <p:sldId id="267" r:id="rId20"/>
    <p:sldId id="268" r:id="rId21"/>
    <p:sldId id="269" r:id="rId22"/>
  </p:sldIdLst>
  <p:sldSz cx="12192000" cy="6858000"/>
  <p:notesSz cx="6858000" cy="9144000"/>
  <p:embeddedFontLst>
    <p:embeddedFont>
      <p:font typeface="Century Gothic" panose="020B0502020202020204" pitchFamily="34" charset="0"/>
      <p:regular r:id="rId24"/>
      <p:bold r:id="rId25"/>
      <p:italic r:id="rId26"/>
      <p:boldItalic r:id="rId27"/>
    </p:embeddedFont>
  </p:embeddedFontLst>
  <p:custDataLst>
    <p:tags r:id="rId28"/>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9" roundtripDataSignature="AMtx7mhlYlCtF+airiOZksSy3UV5ad0g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02198C4-3087-4945-87E3-76CBB3509B7E}">
  <a:tblStyle styleId="{802198C4-3087-4945-87E3-76CBB3509B7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52"/>
    <p:restoredTop sz="94654"/>
  </p:normalViewPr>
  <p:slideViewPr>
    <p:cSldViewPr snapToGrid="0">
      <p:cViewPr varScale="1">
        <p:scale>
          <a:sx n="104" d="100"/>
          <a:sy n="104" d="100"/>
        </p:scale>
        <p:origin x="800" y="19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3.fntdata"/><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2.fntdata"/><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customschemas.google.com/relationships/presentationmetadata" Target="meta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1.fntdata"/><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gs" Target="tags/tag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4.fntdata"/><Relationship Id="rId30" Type="http://schemas.openxmlformats.org/officeDocument/2006/relationships/presProps" Target="presProp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6391965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9" name="Google Shape;1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7" name="Google Shape;15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5" name="Google Shape;1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2" name="Google Shape;1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9" name="Google Shape;1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6" name="Google Shape;18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9504e295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F24B8037-3A04-B27B-22AF-8B7B55BE4BF3}"/>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6DE9E29E-F1C3-787B-B3BB-11042D8FB9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CCD921F7-AA3C-4B3D-E56D-D0A95F9D1E1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1084617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0167434F-593F-6CF9-7FD3-3198EDC0C40F}"/>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B87394BF-8B99-8923-E9E5-44BB8B2374B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BF8A0611-51DC-2028-DAF1-E76755DD40A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993466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A10A4254-9F02-B44A-C732-A2B640EE06BF}"/>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A4E22213-E43C-3960-4CCA-6EFAED5DC2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B3DDF755-EC6E-BE70-C7BB-DE3F2C5D714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8130138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053E9AE8-8BF9-BD16-F7E0-2DBEDE893302}"/>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067CE60D-F944-243B-01A5-9A20F102A2F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F9F2E766-AF14-A8FB-5076-2B1EDF5D8B2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8922357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0" name="Google Shape;2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7" name="Google Shape;20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4" name="Google Shape;21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1" name="Google Shape;22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8" name="Google Shape;22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5" name="Google Shape;23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1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4" name="Google Shape;14;p16"/>
          <p:cNvSpPr txBox="1">
            <a:spLocks noGrp="1"/>
          </p:cNvSpPr>
          <p:nvPr>
            <p:ph type="ctrTitle"/>
          </p:nvPr>
        </p:nvSpPr>
        <p:spPr>
          <a:xfrm>
            <a:off x="1371600" y="1803405"/>
            <a:ext cx="9448800" cy="182509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6"/>
          <p:cNvSpPr txBox="1">
            <a:spLocks noGrp="1"/>
          </p:cNvSpPr>
          <p:nvPr>
            <p:ph type="subTitle" idx="1"/>
          </p:nvPr>
        </p:nvSpPr>
        <p:spPr>
          <a:xfrm>
            <a:off x="1371600" y="3632201"/>
            <a:ext cx="9448800" cy="685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6" name="Google Shape;16;p16"/>
          <p:cNvSpPr txBox="1">
            <a:spLocks noGrp="1"/>
          </p:cNvSpPr>
          <p:nvPr>
            <p:ph type="dt" idx="10"/>
          </p:nvPr>
        </p:nvSpPr>
        <p:spPr>
          <a:xfrm>
            <a:off x="7909561" y="4314328"/>
            <a:ext cx="2910840" cy="37464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6"/>
          <p:cNvSpPr txBox="1">
            <a:spLocks noGrp="1"/>
          </p:cNvSpPr>
          <p:nvPr>
            <p:ph type="ftr" idx="11"/>
          </p:nvPr>
        </p:nvSpPr>
        <p:spPr>
          <a:xfrm>
            <a:off x="1371600" y="4323845"/>
            <a:ext cx="6400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6"/>
          <p:cNvSpPr txBox="1">
            <a:spLocks noGrp="1"/>
          </p:cNvSpPr>
          <p:nvPr>
            <p:ph type="sldNum" idx="12"/>
          </p:nvPr>
        </p:nvSpPr>
        <p:spPr>
          <a:xfrm>
            <a:off x="8077200" y="1430866"/>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 name="Google Shape;22;p17"/>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7"/>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7"/>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5"/>
        <p:cNvGrpSpPr/>
        <p:nvPr/>
      </p:nvGrpSpPr>
      <p:grpSpPr>
        <a:xfrm>
          <a:off x="0" y="0"/>
          <a:ext cx="0" cy="0"/>
          <a:chOff x="0" y="0"/>
          <a:chExt cx="0" cy="0"/>
        </a:xfrm>
      </p:grpSpPr>
      <p:pic>
        <p:nvPicPr>
          <p:cNvPr id="26" name="Google Shape;26;p1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27" name="Google Shape;27;p18"/>
          <p:cNvSpPr txBox="1">
            <a:spLocks noGrp="1"/>
          </p:cNvSpPr>
          <p:nvPr>
            <p:ph type="title"/>
          </p:nvPr>
        </p:nvSpPr>
        <p:spPr>
          <a:xfrm>
            <a:off x="685800" y="753533"/>
            <a:ext cx="10820399" cy="2801935"/>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chemeClr val="lt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body" idx="1"/>
          </p:nvPr>
        </p:nvSpPr>
        <p:spPr>
          <a:xfrm>
            <a:off x="1024467" y="3641725"/>
            <a:ext cx="10490200" cy="955675"/>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chemeClr val="lt1"/>
              </a:buClr>
              <a:buSzPts val="2200"/>
              <a:buNone/>
              <a:defRPr sz="2200">
                <a:solidFill>
                  <a:schemeClr val="lt1"/>
                </a:solidFill>
              </a:defRPr>
            </a:lvl1pPr>
            <a:lvl2pPr marL="914400" lvl="1" indent="-228600" algn="l">
              <a:lnSpc>
                <a:spcPct val="90000"/>
              </a:lnSpc>
              <a:spcBef>
                <a:spcPts val="500"/>
              </a:spcBef>
              <a:spcAft>
                <a:spcPts val="0"/>
              </a:spcAft>
              <a:buClr>
                <a:schemeClr val="lt1"/>
              </a:buClr>
              <a:buSzPts val="2000"/>
              <a:buNone/>
              <a:defRPr sz="2000">
                <a:solidFill>
                  <a:schemeClr val="lt1"/>
                </a:solidFill>
              </a:defRPr>
            </a:lvl2pPr>
            <a:lvl3pPr marL="1371600" lvl="2" indent="-228600" algn="l">
              <a:lnSpc>
                <a:spcPct val="90000"/>
              </a:lnSpc>
              <a:spcBef>
                <a:spcPts val="500"/>
              </a:spcBef>
              <a:spcAft>
                <a:spcPts val="0"/>
              </a:spcAft>
              <a:buClr>
                <a:schemeClr val="lt1"/>
              </a:buClr>
              <a:buSzPts val="1800"/>
              <a:buNone/>
              <a:defRPr sz="1800">
                <a:solidFill>
                  <a:schemeClr val="lt1"/>
                </a:solidFill>
              </a:defRPr>
            </a:lvl3pPr>
            <a:lvl4pPr marL="1828800" lvl="3" indent="-228600" algn="l">
              <a:lnSpc>
                <a:spcPct val="90000"/>
              </a:lnSpc>
              <a:spcBef>
                <a:spcPts val="500"/>
              </a:spcBef>
              <a:spcAft>
                <a:spcPts val="0"/>
              </a:spcAft>
              <a:buClr>
                <a:schemeClr val="lt1"/>
              </a:buClr>
              <a:buSzPts val="1600"/>
              <a:buNone/>
              <a:defRPr sz="1600">
                <a:solidFill>
                  <a:schemeClr val="lt1"/>
                </a:solidFill>
              </a:defRPr>
            </a:lvl4pPr>
            <a:lvl5pPr marL="2286000" lvl="4" indent="-228600" algn="l">
              <a:lnSpc>
                <a:spcPct val="90000"/>
              </a:lnSpc>
              <a:spcBef>
                <a:spcPts val="500"/>
              </a:spcBef>
              <a:spcAft>
                <a:spcPts val="0"/>
              </a:spcAft>
              <a:buClr>
                <a:schemeClr val="lt1"/>
              </a:buClr>
              <a:buSzPts val="1600"/>
              <a:buNone/>
              <a:defRPr sz="1600">
                <a:solidFill>
                  <a:schemeClr val="lt1"/>
                </a:solidFill>
              </a:defRPr>
            </a:lvl5pPr>
            <a:lvl6pPr marL="2743200" lvl="5" indent="-228600" algn="l">
              <a:lnSpc>
                <a:spcPct val="90000"/>
              </a:lnSpc>
              <a:spcBef>
                <a:spcPts val="500"/>
              </a:spcBef>
              <a:spcAft>
                <a:spcPts val="0"/>
              </a:spcAft>
              <a:buClr>
                <a:schemeClr val="lt1"/>
              </a:buClr>
              <a:buSzPts val="1600"/>
              <a:buNone/>
              <a:defRPr sz="1600">
                <a:solidFill>
                  <a:schemeClr val="lt1"/>
                </a:solidFill>
              </a:defRPr>
            </a:lvl6pPr>
            <a:lvl7pPr marL="3200400" lvl="6" indent="-228600" algn="l">
              <a:lnSpc>
                <a:spcPct val="90000"/>
              </a:lnSpc>
              <a:spcBef>
                <a:spcPts val="500"/>
              </a:spcBef>
              <a:spcAft>
                <a:spcPts val="0"/>
              </a:spcAft>
              <a:buClr>
                <a:schemeClr val="lt1"/>
              </a:buClr>
              <a:buSzPts val="1600"/>
              <a:buNone/>
              <a:defRPr sz="1600">
                <a:solidFill>
                  <a:schemeClr val="lt1"/>
                </a:solidFill>
              </a:defRPr>
            </a:lvl7pPr>
            <a:lvl8pPr marL="3657600" lvl="7" indent="-228600" algn="l">
              <a:lnSpc>
                <a:spcPct val="90000"/>
              </a:lnSpc>
              <a:spcBef>
                <a:spcPts val="500"/>
              </a:spcBef>
              <a:spcAft>
                <a:spcPts val="0"/>
              </a:spcAft>
              <a:buClr>
                <a:schemeClr val="lt1"/>
              </a:buClr>
              <a:buSzPts val="1600"/>
              <a:buNone/>
              <a:defRPr sz="1600">
                <a:solidFill>
                  <a:schemeClr val="lt1"/>
                </a:solidFill>
              </a:defRPr>
            </a:lvl8pPr>
            <a:lvl9pPr marL="4114800" lvl="8"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29" name="Google Shape;29;p18"/>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8"/>
          <p:cNvSpPr txBox="1">
            <a:spLocks noGrp="1"/>
          </p:cNvSpPr>
          <p:nvPr>
            <p:ph type="ftr" idx="11"/>
          </p:nvPr>
        </p:nvSpPr>
        <p:spPr>
          <a:xfrm>
            <a:off x="685800" y="381001"/>
            <a:ext cx="6991492" cy="36406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1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body" idx="1"/>
          </p:nvPr>
        </p:nvSpPr>
        <p:spPr>
          <a:xfrm>
            <a:off x="6858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 name="Google Shape;35;p19"/>
          <p:cNvSpPr txBox="1">
            <a:spLocks noGrp="1"/>
          </p:cNvSpPr>
          <p:nvPr>
            <p:ph type="body" idx="2"/>
          </p:nvPr>
        </p:nvSpPr>
        <p:spPr>
          <a:xfrm>
            <a:off x="61722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6" name="Google Shape;36;p1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20"/>
          <p:cNvSpPr txBox="1">
            <a:spLocks noGrp="1"/>
          </p:cNvSpPr>
          <p:nvPr>
            <p:ph type="title"/>
          </p:nvPr>
        </p:nvSpPr>
        <p:spPr>
          <a:xfrm>
            <a:off x="2895600" y="762000"/>
            <a:ext cx="8610600"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0"/>
          <p:cNvSpPr txBox="1">
            <a:spLocks noGrp="1"/>
          </p:cNvSpPr>
          <p:nvPr>
            <p:ph type="body" idx="1"/>
          </p:nvPr>
        </p:nvSpPr>
        <p:spPr>
          <a:xfrm>
            <a:off x="914409" y="2183802"/>
            <a:ext cx="50799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2" name="Google Shape;42;p20"/>
          <p:cNvSpPr txBox="1">
            <a:spLocks noGrp="1"/>
          </p:cNvSpPr>
          <p:nvPr>
            <p:ph type="body" idx="2"/>
          </p:nvPr>
        </p:nvSpPr>
        <p:spPr>
          <a:xfrm>
            <a:off x="685800" y="3132666"/>
            <a:ext cx="5311775"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3" name="Google Shape;43;p20"/>
          <p:cNvSpPr txBox="1">
            <a:spLocks noGrp="1"/>
          </p:cNvSpPr>
          <p:nvPr>
            <p:ph type="body" idx="3"/>
          </p:nvPr>
        </p:nvSpPr>
        <p:spPr>
          <a:xfrm>
            <a:off x="6400800" y="2183802"/>
            <a:ext cx="51054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4" name="Google Shape;44;p20"/>
          <p:cNvSpPr txBox="1">
            <a:spLocks noGrp="1"/>
          </p:cNvSpPr>
          <p:nvPr>
            <p:ph type="body" idx="4"/>
          </p:nvPr>
        </p:nvSpPr>
        <p:spPr>
          <a:xfrm>
            <a:off x="6172200" y="3132666"/>
            <a:ext cx="5334000"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2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2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22"/>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2"/>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23"/>
          <p:cNvSpPr txBox="1">
            <a:spLocks noGrp="1"/>
          </p:cNvSpPr>
          <p:nvPr>
            <p:ph type="title"/>
          </p:nvPr>
        </p:nvSpPr>
        <p:spPr>
          <a:xfrm>
            <a:off x="685800" y="1524000"/>
            <a:ext cx="41148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body" idx="1"/>
          </p:nvPr>
        </p:nvSpPr>
        <p:spPr>
          <a:xfrm>
            <a:off x="4995582" y="746759"/>
            <a:ext cx="6510618" cy="5471925"/>
          </a:xfrm>
          <a:prstGeom prst="rect">
            <a:avLst/>
          </a:prstGeom>
          <a:noFill/>
          <a:ln>
            <a:noFill/>
          </a:ln>
        </p:spPr>
        <p:txBody>
          <a:bodyPr spcFirstLastPara="1" wrap="square" lIns="91425" tIns="45700" rIns="91425" bIns="45700" anchor="ctr"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0" name="Google Shape;60;p23"/>
          <p:cNvSpPr txBox="1">
            <a:spLocks noGrp="1"/>
          </p:cNvSpPr>
          <p:nvPr>
            <p:ph type="body" idx="2"/>
          </p:nvPr>
        </p:nvSpPr>
        <p:spPr>
          <a:xfrm>
            <a:off x="685800" y="3124199"/>
            <a:ext cx="411480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1" name="Google Shape;61;p23"/>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3"/>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24"/>
          <p:cNvSpPr txBox="1">
            <a:spLocks noGrp="1"/>
          </p:cNvSpPr>
          <p:nvPr>
            <p:ph type="title"/>
          </p:nvPr>
        </p:nvSpPr>
        <p:spPr>
          <a:xfrm>
            <a:off x="685800" y="1524000"/>
            <a:ext cx="687324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a:spLocks noGrp="1"/>
          </p:cNvSpPr>
          <p:nvPr>
            <p:ph type="pic" idx="2"/>
          </p:nvPr>
        </p:nvSpPr>
        <p:spPr>
          <a:xfrm>
            <a:off x="7861238" y="751241"/>
            <a:ext cx="3644962" cy="5467443"/>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67" name="Google Shape;67;p24"/>
          <p:cNvSpPr txBox="1">
            <a:spLocks noGrp="1"/>
          </p:cNvSpPr>
          <p:nvPr>
            <p:ph type="body" idx="1"/>
          </p:nvPr>
        </p:nvSpPr>
        <p:spPr>
          <a:xfrm>
            <a:off x="685800" y="3124199"/>
            <a:ext cx="687324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8" name="Google Shape;68;p24"/>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4"/>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1"/>
        <p:cNvGrpSpPr/>
        <p:nvPr/>
      </p:nvGrpSpPr>
      <p:grpSpPr>
        <a:xfrm>
          <a:off x="0" y="0"/>
          <a:ext cx="0" cy="0"/>
          <a:chOff x="0" y="0"/>
          <a:chExt cx="0" cy="0"/>
        </a:xfrm>
      </p:grpSpPr>
      <p:sp>
        <p:nvSpPr>
          <p:cNvPr id="72" name="Google Shape;72;p25"/>
          <p:cNvSpPr txBox="1">
            <a:spLocks noGrp="1"/>
          </p:cNvSpPr>
          <p:nvPr>
            <p:ph type="title"/>
          </p:nvPr>
        </p:nvSpPr>
        <p:spPr>
          <a:xfrm>
            <a:off x="685777" y="4697360"/>
            <a:ext cx="10822034" cy="8193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a:spLocks noGrp="1"/>
          </p:cNvSpPr>
          <p:nvPr>
            <p:ph type="pic" idx="2"/>
          </p:nvPr>
        </p:nvSpPr>
        <p:spPr>
          <a:xfrm>
            <a:off x="681727" y="941439"/>
            <a:ext cx="10821840" cy="3478161"/>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74" name="Google Shape;74;p25"/>
          <p:cNvSpPr txBox="1">
            <a:spLocks noGrp="1"/>
          </p:cNvSpPr>
          <p:nvPr>
            <p:ph type="body" idx="1"/>
          </p:nvPr>
        </p:nvSpPr>
        <p:spPr>
          <a:xfrm>
            <a:off x="685800" y="5516715"/>
            <a:ext cx="10820400" cy="7019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75" name="Google Shape;75;p2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78"/>
        <p:cNvGrpSpPr/>
        <p:nvPr/>
      </p:nvGrpSpPr>
      <p:grpSpPr>
        <a:xfrm>
          <a:off x="0" y="0"/>
          <a:ext cx="0" cy="0"/>
          <a:chOff x="0" y="0"/>
          <a:chExt cx="0" cy="0"/>
        </a:xfrm>
      </p:grpSpPr>
      <p:pic>
        <p:nvPicPr>
          <p:cNvPr id="79" name="Google Shape;79;p2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0" name="Google Shape;80;p26"/>
          <p:cNvSpPr txBox="1">
            <a:spLocks noGrp="1"/>
          </p:cNvSpPr>
          <p:nvPr>
            <p:ph type="title"/>
          </p:nvPr>
        </p:nvSpPr>
        <p:spPr>
          <a:xfrm>
            <a:off x="685800" y="753532"/>
            <a:ext cx="10820400" cy="280246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6"/>
          <p:cNvSpPr txBox="1">
            <a:spLocks noGrp="1"/>
          </p:cNvSpPr>
          <p:nvPr>
            <p:ph type="body" idx="1"/>
          </p:nvPr>
        </p:nvSpPr>
        <p:spPr>
          <a:xfrm>
            <a:off x="1024467" y="3649133"/>
            <a:ext cx="10130516" cy="99906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2" name="Google Shape;82;p26"/>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6"/>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6"/>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85"/>
        <p:cNvGrpSpPr/>
        <p:nvPr/>
      </p:nvGrpSpPr>
      <p:grpSpPr>
        <a:xfrm>
          <a:off x="0" y="0"/>
          <a:ext cx="0" cy="0"/>
          <a:chOff x="0" y="0"/>
          <a:chExt cx="0" cy="0"/>
        </a:xfrm>
      </p:grpSpPr>
      <p:pic>
        <p:nvPicPr>
          <p:cNvPr id="86" name="Google Shape;86;p27"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7" name="Google Shape;87;p27"/>
          <p:cNvSpPr txBox="1">
            <a:spLocks noGrp="1"/>
          </p:cNvSpPr>
          <p:nvPr>
            <p:ph type="title"/>
          </p:nvPr>
        </p:nvSpPr>
        <p:spPr>
          <a:xfrm>
            <a:off x="1024467" y="753533"/>
            <a:ext cx="10151533" cy="26044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7"/>
          <p:cNvSpPr txBox="1">
            <a:spLocks noGrp="1"/>
          </p:cNvSpPr>
          <p:nvPr>
            <p:ph type="body" idx="1"/>
          </p:nvPr>
        </p:nvSpPr>
        <p:spPr>
          <a:xfrm>
            <a:off x="1303865" y="3365556"/>
            <a:ext cx="9592736" cy="44444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9" name="Google Shape;89;p27"/>
          <p:cNvSpPr txBox="1">
            <a:spLocks noGrp="1"/>
          </p:cNvSpPr>
          <p:nvPr>
            <p:ph type="body" idx="2"/>
          </p:nvPr>
        </p:nvSpPr>
        <p:spPr>
          <a:xfrm>
            <a:off x="1024467" y="3959862"/>
            <a:ext cx="10151533" cy="679871"/>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0" name="Google Shape;90;p27"/>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7"/>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7"/>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93" name="Google Shape;93;p27"/>
          <p:cNvSpPr txBox="1"/>
          <p:nvPr/>
        </p:nvSpPr>
        <p:spPr>
          <a:xfrm>
            <a:off x="476250" y="933450"/>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
        <p:nvSpPr>
          <p:cNvPr id="94" name="Google Shape;94;p27"/>
          <p:cNvSpPr txBox="1"/>
          <p:nvPr/>
        </p:nvSpPr>
        <p:spPr>
          <a:xfrm>
            <a:off x="10984230" y="2701290"/>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95"/>
        <p:cNvGrpSpPr/>
        <p:nvPr/>
      </p:nvGrpSpPr>
      <p:grpSpPr>
        <a:xfrm>
          <a:off x="0" y="0"/>
          <a:ext cx="0" cy="0"/>
          <a:chOff x="0" y="0"/>
          <a:chExt cx="0" cy="0"/>
        </a:xfrm>
      </p:grpSpPr>
      <p:pic>
        <p:nvPicPr>
          <p:cNvPr id="96" name="Google Shape;96;p2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97" name="Google Shape;97;p28"/>
          <p:cNvSpPr txBox="1">
            <a:spLocks noGrp="1"/>
          </p:cNvSpPr>
          <p:nvPr>
            <p:ph type="title"/>
          </p:nvPr>
        </p:nvSpPr>
        <p:spPr>
          <a:xfrm>
            <a:off x="1024495" y="1124701"/>
            <a:ext cx="10146186" cy="251183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8"/>
          <p:cNvSpPr txBox="1">
            <a:spLocks noGrp="1"/>
          </p:cNvSpPr>
          <p:nvPr>
            <p:ph type="body" idx="1"/>
          </p:nvPr>
        </p:nvSpPr>
        <p:spPr>
          <a:xfrm>
            <a:off x="1024467" y="3648315"/>
            <a:ext cx="10144654" cy="9998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9" name="Google Shape;99;p28"/>
          <p:cNvSpPr txBox="1">
            <a:spLocks noGrp="1"/>
          </p:cNvSpPr>
          <p:nvPr>
            <p:ph type="dt" idx="10"/>
          </p:nvPr>
        </p:nvSpPr>
        <p:spPr>
          <a:xfrm>
            <a:off x="7814452" y="378883"/>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8"/>
          <p:cNvSpPr txBox="1">
            <a:spLocks noGrp="1"/>
          </p:cNvSpPr>
          <p:nvPr>
            <p:ph type="ftr" idx="11"/>
          </p:nvPr>
        </p:nvSpPr>
        <p:spPr>
          <a:xfrm>
            <a:off x="685800" y="378883"/>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2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02"/>
        <p:cNvGrpSpPr/>
        <p:nvPr/>
      </p:nvGrpSpPr>
      <p:grpSpPr>
        <a:xfrm>
          <a:off x="0" y="0"/>
          <a:ext cx="0" cy="0"/>
          <a:chOff x="0" y="0"/>
          <a:chExt cx="0" cy="0"/>
        </a:xfrm>
      </p:grpSpPr>
      <p:sp>
        <p:nvSpPr>
          <p:cNvPr id="103" name="Google Shape;103;p29"/>
          <p:cNvSpPr txBox="1">
            <a:spLocks noGrp="1"/>
          </p:cNvSpPr>
          <p:nvPr>
            <p:ph type="title"/>
          </p:nvPr>
        </p:nvSpPr>
        <p:spPr>
          <a:xfrm>
            <a:off x="2895600" y="761999"/>
            <a:ext cx="8610599" cy="1303867"/>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9"/>
          <p:cNvSpPr txBox="1">
            <a:spLocks noGrp="1"/>
          </p:cNvSpPr>
          <p:nvPr>
            <p:ph type="body" idx="1"/>
          </p:nvPr>
        </p:nvSpPr>
        <p:spPr>
          <a:xfrm>
            <a:off x="685800" y="2202080"/>
            <a:ext cx="3456432" cy="61732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5" name="Google Shape;105;p29"/>
          <p:cNvSpPr txBox="1">
            <a:spLocks noGrp="1"/>
          </p:cNvSpPr>
          <p:nvPr>
            <p:ph type="body" idx="2"/>
          </p:nvPr>
        </p:nvSpPr>
        <p:spPr>
          <a:xfrm>
            <a:off x="685799"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6" name="Google Shape;106;p29"/>
          <p:cNvSpPr txBox="1">
            <a:spLocks noGrp="1"/>
          </p:cNvSpPr>
          <p:nvPr>
            <p:ph type="body" idx="3"/>
          </p:nvPr>
        </p:nvSpPr>
        <p:spPr>
          <a:xfrm>
            <a:off x="4368800" y="2201333"/>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7" name="Google Shape;107;p29"/>
          <p:cNvSpPr txBox="1">
            <a:spLocks noGrp="1"/>
          </p:cNvSpPr>
          <p:nvPr>
            <p:ph type="body" idx="4"/>
          </p:nvPr>
        </p:nvSpPr>
        <p:spPr>
          <a:xfrm>
            <a:off x="4366858" y="2904067"/>
            <a:ext cx="3456432" cy="331461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8" name="Google Shape;108;p29"/>
          <p:cNvSpPr txBox="1">
            <a:spLocks noGrp="1"/>
          </p:cNvSpPr>
          <p:nvPr>
            <p:ph type="body" idx="5"/>
          </p:nvPr>
        </p:nvSpPr>
        <p:spPr>
          <a:xfrm>
            <a:off x="8051800" y="2192866"/>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9" name="Google Shape;109;p29"/>
          <p:cNvSpPr txBox="1">
            <a:spLocks noGrp="1"/>
          </p:cNvSpPr>
          <p:nvPr>
            <p:ph type="body" idx="6"/>
          </p:nvPr>
        </p:nvSpPr>
        <p:spPr>
          <a:xfrm>
            <a:off x="8051801"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0" name="Google Shape;110;p2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2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13"/>
        <p:cNvGrpSpPr/>
        <p:nvPr/>
      </p:nvGrpSpPr>
      <p:grpSpPr>
        <a:xfrm>
          <a:off x="0" y="0"/>
          <a:ext cx="0" cy="0"/>
          <a:chOff x="0" y="0"/>
          <a:chExt cx="0" cy="0"/>
        </a:xfrm>
      </p:grpSpPr>
      <p:sp>
        <p:nvSpPr>
          <p:cNvPr id="114" name="Google Shape;114;p30"/>
          <p:cNvSpPr txBox="1">
            <a:spLocks noGrp="1"/>
          </p:cNvSpPr>
          <p:nvPr>
            <p:ph type="title"/>
          </p:nvPr>
        </p:nvSpPr>
        <p:spPr>
          <a:xfrm>
            <a:off x="2895600" y="762000"/>
            <a:ext cx="8610599"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30"/>
          <p:cNvSpPr txBox="1">
            <a:spLocks noGrp="1"/>
          </p:cNvSpPr>
          <p:nvPr>
            <p:ph type="body" idx="1"/>
          </p:nvPr>
        </p:nvSpPr>
        <p:spPr>
          <a:xfrm>
            <a:off x="688618" y="4191000"/>
            <a:ext cx="3451582"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6" name="Google Shape;116;p30"/>
          <p:cNvSpPr>
            <a:spLocks noGrp="1"/>
          </p:cNvSpPr>
          <p:nvPr>
            <p:ph type="pic" idx="2"/>
          </p:nvPr>
        </p:nvSpPr>
        <p:spPr>
          <a:xfrm>
            <a:off x="688618" y="2362200"/>
            <a:ext cx="3451582"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17" name="Google Shape;117;p30"/>
          <p:cNvSpPr txBox="1">
            <a:spLocks noGrp="1"/>
          </p:cNvSpPr>
          <p:nvPr>
            <p:ph type="body" idx="3"/>
          </p:nvPr>
        </p:nvSpPr>
        <p:spPr>
          <a:xfrm>
            <a:off x="688618" y="4873764"/>
            <a:ext cx="3451582"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8" name="Google Shape;118;p30"/>
          <p:cNvSpPr txBox="1">
            <a:spLocks noGrp="1"/>
          </p:cNvSpPr>
          <p:nvPr>
            <p:ph type="body" idx="4"/>
          </p:nvPr>
        </p:nvSpPr>
        <p:spPr>
          <a:xfrm>
            <a:off x="4374263" y="4191000"/>
            <a:ext cx="3448935"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9" name="Google Shape;119;p30"/>
          <p:cNvSpPr>
            <a:spLocks noGrp="1"/>
          </p:cNvSpPr>
          <p:nvPr>
            <p:ph type="pic" idx="5"/>
          </p:nvPr>
        </p:nvSpPr>
        <p:spPr>
          <a:xfrm>
            <a:off x="4374263" y="2362200"/>
            <a:ext cx="3448936"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0" name="Google Shape;120;p30"/>
          <p:cNvSpPr txBox="1">
            <a:spLocks noGrp="1"/>
          </p:cNvSpPr>
          <p:nvPr>
            <p:ph type="body" idx="6"/>
          </p:nvPr>
        </p:nvSpPr>
        <p:spPr>
          <a:xfrm>
            <a:off x="4374264" y="4873763"/>
            <a:ext cx="344893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1" name="Google Shape;121;p30"/>
          <p:cNvSpPr txBox="1">
            <a:spLocks noGrp="1"/>
          </p:cNvSpPr>
          <p:nvPr>
            <p:ph type="body" idx="7"/>
          </p:nvPr>
        </p:nvSpPr>
        <p:spPr>
          <a:xfrm>
            <a:off x="8049731" y="4191000"/>
            <a:ext cx="3456469"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2" name="Google Shape;122;p30"/>
          <p:cNvSpPr>
            <a:spLocks noGrp="1"/>
          </p:cNvSpPr>
          <p:nvPr>
            <p:ph type="pic" idx="8"/>
          </p:nvPr>
        </p:nvSpPr>
        <p:spPr>
          <a:xfrm>
            <a:off x="8049855" y="2362200"/>
            <a:ext cx="3447878"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3" name="Google Shape;123;p30"/>
          <p:cNvSpPr txBox="1">
            <a:spLocks noGrp="1"/>
          </p:cNvSpPr>
          <p:nvPr>
            <p:ph type="body" idx="9"/>
          </p:nvPr>
        </p:nvSpPr>
        <p:spPr>
          <a:xfrm>
            <a:off x="8049731" y="4873761"/>
            <a:ext cx="345244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4" name="Google Shape;124;p3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3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3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3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31"/>
          <p:cNvSpPr txBox="1">
            <a:spLocks noGrp="1"/>
          </p:cNvSpPr>
          <p:nvPr>
            <p:ph type="body" idx="1"/>
          </p:nvPr>
        </p:nvSpPr>
        <p:spPr>
          <a:xfrm rot="5400000">
            <a:off x="4083937" y="-1203579"/>
            <a:ext cx="4024125" cy="10820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0" name="Google Shape;130;p3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3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3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33"/>
        <p:cNvGrpSpPr/>
        <p:nvPr/>
      </p:nvGrpSpPr>
      <p:grpSpPr>
        <a:xfrm>
          <a:off x="0" y="0"/>
          <a:ext cx="0" cy="0"/>
          <a:chOff x="0" y="0"/>
          <a:chExt cx="0" cy="0"/>
        </a:xfrm>
      </p:grpSpPr>
      <p:pic>
        <p:nvPicPr>
          <p:cNvPr id="134" name="Google Shape;134;p32"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35" name="Google Shape;135;p32"/>
          <p:cNvSpPr txBox="1">
            <a:spLocks noGrp="1"/>
          </p:cNvSpPr>
          <p:nvPr>
            <p:ph type="title"/>
          </p:nvPr>
        </p:nvSpPr>
        <p:spPr>
          <a:xfrm rot="5400000">
            <a:off x="8525933" y="1667933"/>
            <a:ext cx="3903133" cy="2057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32"/>
          <p:cNvSpPr txBox="1">
            <a:spLocks noGrp="1"/>
          </p:cNvSpPr>
          <p:nvPr>
            <p:ph type="body" idx="1"/>
          </p:nvPr>
        </p:nvSpPr>
        <p:spPr>
          <a:xfrm rot="5400000">
            <a:off x="3175000" y="-1405467"/>
            <a:ext cx="3903133" cy="82042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7" name="Google Shape;137;p32"/>
          <p:cNvSpPr txBox="1">
            <a:spLocks noGrp="1"/>
          </p:cNvSpPr>
          <p:nvPr>
            <p:ph type="dt" idx="10"/>
          </p:nvPr>
        </p:nvSpPr>
        <p:spPr>
          <a:xfrm>
            <a:off x="7814452" y="379941"/>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32"/>
          <p:cNvSpPr txBox="1">
            <a:spLocks noGrp="1"/>
          </p:cNvSpPr>
          <p:nvPr>
            <p:ph type="ftr" idx="11"/>
          </p:nvPr>
        </p:nvSpPr>
        <p:spPr>
          <a:xfrm>
            <a:off x="685800" y="381000"/>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32"/>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pic>
        <p:nvPicPr>
          <p:cNvPr id="6" name="Google Shape;6;p15" descr="C0-HD-TOP.png"/>
          <p:cNvPicPr preferRelativeResize="0"/>
          <p:nvPr/>
        </p:nvPicPr>
        <p:blipFill rotWithShape="1">
          <a:blip r:embed="rId19">
            <a:alphaModFix/>
          </a:blip>
          <a:srcRect/>
          <a:stretch/>
        </p:blipFill>
        <p:spPr>
          <a:xfrm>
            <a:off x="0" y="0"/>
            <a:ext cx="12192000" cy="1441450"/>
          </a:xfrm>
          <a:prstGeom prst="rect">
            <a:avLst/>
          </a:prstGeom>
          <a:noFill/>
          <a:ln>
            <a:noFill/>
          </a:ln>
        </p:spPr>
      </p:pic>
      <p:sp>
        <p:nvSpPr>
          <p:cNvPr id="7" name="Google Shape;7;p1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marR="0" lvl="0" algn="r" rtl="0">
              <a:lnSpc>
                <a:spcPct val="90000"/>
              </a:lnSpc>
              <a:spcBef>
                <a:spcPts val="0"/>
              </a:spcBef>
              <a:spcAft>
                <a:spcPts val="0"/>
              </a:spcAft>
              <a:buClr>
                <a:schemeClr val="lt1"/>
              </a:buClr>
              <a:buSzPts val="4000"/>
              <a:buFont typeface="Century Gothic"/>
              <a:buNone/>
              <a:defRPr sz="40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90000"/>
              </a:lnSpc>
              <a:spcBef>
                <a:spcPts val="1000"/>
              </a:spcBef>
              <a:spcAft>
                <a:spcPts val="0"/>
              </a:spcAft>
              <a:buClr>
                <a:schemeClr val="lt1"/>
              </a:buClr>
              <a:buSzPts val="22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9" name="Google Shape;9;p1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0" name="Google Shape;10;p1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1" name="Google Shape;11;p1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0.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4.xml"/><Relationship Id="rId5" Type="http://schemas.openxmlformats.org/officeDocument/2006/relationships/image" Target="../media/image3.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6.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7.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8.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notesSlide" Target="../notesSlides/notesSlide18.xml"/><Relationship Id="rId7" Type="http://schemas.openxmlformats.org/officeDocument/2006/relationships/hyperlink" Target="https://docs.sonarsource.com/sonarqube/" TargetMode="External"/><Relationship Id="rId2" Type="http://schemas.openxmlformats.org/officeDocument/2006/relationships/slideLayout" Target="../slideLayouts/slideLayout2.xml"/><Relationship Id="rId1" Type="http://schemas.openxmlformats.org/officeDocument/2006/relationships/tags" Target="../tags/tag19.xml"/><Relationship Id="rId6" Type="http://schemas.openxmlformats.org/officeDocument/2006/relationships/hyperlink" Target="https://doi.org/10.6028/NIST.SP.800-53r5" TargetMode="External"/><Relationship Id="rId5" Type="http://schemas.openxmlformats.org/officeDocument/2006/relationships/hyperlink" Target="https://wiki.sei.cmu.edu/confluence/display/cplusplus" TargetMode="External"/><Relationship Id="rId4" Type="http://schemas.openxmlformats.org/officeDocument/2006/relationships/hyperlink" Target="https://owasp.org/www-project-top-te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
          <p:cNvSpPr txBox="1">
            <a:spLocks noGrp="1"/>
          </p:cNvSpPr>
          <p:nvPr>
            <p:ph type="ctrTitle"/>
          </p:nvPr>
        </p:nvSpPr>
        <p:spPr>
          <a:xfrm>
            <a:off x="1371600" y="1790153"/>
            <a:ext cx="9448800" cy="182509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Century Gothic"/>
              <a:buNone/>
            </a:pPr>
            <a:r>
              <a:rPr lang="en-US"/>
              <a:t>Green Pace</a:t>
            </a:r>
            <a:endParaRPr/>
          </a:p>
        </p:txBody>
      </p:sp>
      <p:sp>
        <p:nvSpPr>
          <p:cNvPr id="145" name="Google Shape;145;p1"/>
          <p:cNvSpPr txBox="1">
            <a:spLocks noGrp="1"/>
          </p:cNvSpPr>
          <p:nvPr>
            <p:ph type="subTitle" idx="1"/>
          </p:nvPr>
        </p:nvSpPr>
        <p:spPr>
          <a:xfrm>
            <a:off x="1371600" y="3632200"/>
            <a:ext cx="9448800" cy="1561592"/>
          </a:xfrm>
          <a:prstGeom prst="rect">
            <a:avLst/>
          </a:prstGeom>
          <a:noFill/>
          <a:ln>
            <a:noFill/>
          </a:ln>
        </p:spPr>
        <p:txBody>
          <a:bodyPr spcFirstLastPara="1" wrap="square" lIns="91425" tIns="45700" rIns="91425" bIns="45700" anchor="t" anchorCtr="0">
            <a:normAutofit/>
          </a:bodyPr>
          <a:lstStyle/>
          <a:p>
            <a:pPr marL="0" lvl="0" indent="0" algn="l" rtl="0">
              <a:lnSpc>
                <a:spcPct val="70000"/>
              </a:lnSpc>
              <a:spcBef>
                <a:spcPts val="0"/>
              </a:spcBef>
              <a:spcAft>
                <a:spcPts val="0"/>
              </a:spcAft>
              <a:buClr>
                <a:schemeClr val="lt1"/>
              </a:buClr>
              <a:buSzPts val="1850"/>
              <a:buNone/>
            </a:pPr>
            <a:r>
              <a:rPr lang="en-US" sz="1850" dirty="0"/>
              <a:t>Security Policy Presentation</a:t>
            </a:r>
            <a:endParaRPr dirty="0"/>
          </a:p>
          <a:p>
            <a:pPr marL="0" lvl="0" indent="0" algn="l" rtl="0">
              <a:lnSpc>
                <a:spcPct val="70000"/>
              </a:lnSpc>
              <a:spcBef>
                <a:spcPts val="1000"/>
              </a:spcBef>
              <a:spcAft>
                <a:spcPts val="0"/>
              </a:spcAft>
              <a:buClr>
                <a:schemeClr val="lt1"/>
              </a:buClr>
              <a:buSzPts val="1850"/>
              <a:buNone/>
            </a:pPr>
            <a:r>
              <a:rPr lang="en-US" sz="1850" dirty="0"/>
              <a:t>Developer: </a:t>
            </a:r>
            <a:r>
              <a:rPr lang="en-US" sz="1850" i="1" dirty="0"/>
              <a:t>Devin Capdevila</a:t>
            </a:r>
            <a:endParaRPr dirty="0"/>
          </a:p>
        </p:txBody>
      </p:sp>
      <p:pic>
        <p:nvPicPr>
          <p:cNvPr id="146" name="Google Shape;146;p1" descr="Green Pace logo"/>
          <p:cNvPicPr preferRelativeResize="0"/>
          <p:nvPr/>
        </p:nvPicPr>
        <p:blipFill>
          <a:blip r:embed="rId4">
            <a:alphaModFix/>
          </a:blip>
          <a:stretch>
            <a:fillRect/>
          </a:stretch>
        </p:blipFill>
        <p:spPr>
          <a:xfrm>
            <a:off x="7440774" y="659854"/>
            <a:ext cx="2921424" cy="3786772"/>
          </a:xfrm>
          <a:prstGeom prst="rect">
            <a:avLst/>
          </a:prstGeom>
          <a:noFill/>
          <a:ln>
            <a:noFill/>
          </a:ln>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OVERVIEW: DEFENSE IN DEPTH</a:t>
            </a:r>
            <a:endParaRPr/>
          </a:p>
        </p:txBody>
      </p:sp>
      <p:sp>
        <p:nvSpPr>
          <p:cNvPr id="152" name="Google Shape;152;p3"/>
          <p:cNvSpPr txBox="1">
            <a:spLocks noGrp="1"/>
          </p:cNvSpPr>
          <p:nvPr>
            <p:ph type="body" idx="1"/>
          </p:nvPr>
        </p:nvSpPr>
        <p:spPr>
          <a:xfrm>
            <a:off x="503605" y="1767016"/>
            <a:ext cx="11467070" cy="4612307"/>
          </a:xfrm>
          <a:prstGeom prst="rect">
            <a:avLst/>
          </a:prstGeom>
          <a:noFill/>
          <a:ln>
            <a:noFill/>
          </a:ln>
        </p:spPr>
        <p:txBody>
          <a:bodyPr spcFirstLastPara="1" wrap="square" lIns="91425" tIns="45700" rIns="91425" bIns="45700" anchor="t" anchorCtr="0">
            <a:normAutofit/>
          </a:bodyPr>
          <a:lstStyle/>
          <a:p>
            <a:pPr marL="685800" lvl="0" indent="0">
              <a:spcBef>
                <a:spcPts val="0"/>
              </a:spcBef>
              <a:buNone/>
            </a:pPr>
            <a:r>
              <a:rPr lang="en-US" dirty="0"/>
              <a:t>Green Pace’s security policy ensures consistent, secure development by enforcing coding standards, automated testing, and data protection controls. It supports defense in depth by applying multiple layers of security, so if one layer fails, others continue to protect the system.</a:t>
            </a:r>
            <a:endParaRPr dirty="0"/>
          </a:p>
        </p:txBody>
      </p:sp>
      <p:pic>
        <p:nvPicPr>
          <p:cNvPr id="153" name="Google Shape;153;p3"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p:cNvPicPr preferRelativeResize="0"/>
          <p:nvPr/>
        </p:nvPicPr>
        <p:blipFill rotWithShape="1">
          <a:blip r:embed="rId4">
            <a:alphaModFix/>
          </a:blip>
          <a:srcRect/>
          <a:stretch/>
        </p:blipFill>
        <p:spPr>
          <a:xfrm>
            <a:off x="3160643" y="3060804"/>
            <a:ext cx="6453257" cy="3797196"/>
          </a:xfrm>
          <a:prstGeom prst="rect">
            <a:avLst/>
          </a:prstGeom>
          <a:noFill/>
          <a:ln>
            <a:noFill/>
          </a:ln>
        </p:spPr>
      </p:pic>
      <p:pic>
        <p:nvPicPr>
          <p:cNvPr id="154" name="Google Shape;154;p3"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THREATS MATRIX</a:t>
            </a:r>
            <a:endParaRPr/>
          </a:p>
        </p:txBody>
      </p:sp>
      <p:sp>
        <p:nvSpPr>
          <p:cNvPr id="160" name="Google Shape;160;p4"/>
          <p:cNvSpPr txBox="1">
            <a:spLocks noGrp="1"/>
          </p:cNvSpPr>
          <p:nvPr>
            <p:ph type="body" idx="1"/>
          </p:nvPr>
        </p:nvSpPr>
        <p:spPr>
          <a:xfrm>
            <a:off x="685800" y="2194550"/>
            <a:ext cx="2486100" cy="4024200"/>
          </a:xfrm>
          <a:prstGeom prst="rect">
            <a:avLst/>
          </a:prstGeom>
          <a:noFill/>
          <a:ln>
            <a:noFill/>
          </a:ln>
        </p:spPr>
        <p:txBody>
          <a:bodyPr spcFirstLastPara="1" wrap="square" lIns="91425" tIns="45700" rIns="91425" bIns="45700" anchor="t" anchorCtr="0">
            <a:normAutofit fontScale="85000" lnSpcReduction="10000"/>
          </a:bodyPr>
          <a:lstStyle/>
          <a:p>
            <a:pPr marL="114300" indent="0">
              <a:buNone/>
            </a:pPr>
            <a:r>
              <a:rPr lang="en-US" sz="2000" b="1" dirty="0"/>
              <a:t>Summary:</a:t>
            </a:r>
            <a:endParaRPr lang="en-US" sz="2000" dirty="0"/>
          </a:p>
          <a:p>
            <a:r>
              <a:rPr lang="en-US" sz="2000" dirty="0"/>
              <a:t>Highest risks are input-related vulnerabilities (SQL injection, validation, sanitization) </a:t>
            </a:r>
          </a:p>
          <a:p>
            <a:r>
              <a:rPr lang="en-US" sz="2000" dirty="0"/>
              <a:t>These are easy to exploit and can cause major data breaches </a:t>
            </a:r>
          </a:p>
          <a:p>
            <a:r>
              <a:rPr lang="en-US" sz="2000" dirty="0"/>
              <a:t>Lower risks impact reliability but are less likely to be exploited</a:t>
            </a:r>
          </a:p>
          <a:p>
            <a:pPr marL="228600" lvl="0" indent="-88900" algn="l" rtl="0">
              <a:lnSpc>
                <a:spcPct val="90000"/>
              </a:lnSpc>
              <a:spcBef>
                <a:spcPts val="1000"/>
              </a:spcBef>
              <a:spcAft>
                <a:spcPts val="0"/>
              </a:spcAft>
              <a:buClr>
                <a:schemeClr val="lt1"/>
              </a:buClr>
              <a:buSzPts val="2200"/>
              <a:buNone/>
            </a:pPr>
            <a:endParaRPr dirty="0"/>
          </a:p>
        </p:txBody>
      </p:sp>
      <p:graphicFrame>
        <p:nvGraphicFramePr>
          <p:cNvPr id="161" name="Google Shape;161;p4" descr="Alt text required"/>
          <p:cNvGraphicFramePr/>
          <p:nvPr>
            <p:extLst>
              <p:ext uri="{D42A27DB-BD31-4B8C-83A1-F6EECF244321}">
                <p14:modId xmlns:p14="http://schemas.microsoft.com/office/powerpoint/2010/main" val="2840990394"/>
              </p:ext>
            </p:extLst>
          </p:nvPr>
        </p:nvGraphicFramePr>
        <p:xfrm>
          <a:off x="3171900" y="2561050"/>
          <a:ext cx="7835225" cy="3538650"/>
        </p:xfrm>
        <a:graphic>
          <a:graphicData uri="http://schemas.openxmlformats.org/drawingml/2006/table">
            <a:tbl>
              <a:tblPr firstRow="1" firstCol="1">
                <a:noFill/>
                <a:tableStyleId>{802198C4-3087-4945-87E3-76CBB3509B7E}</a:tableStyleId>
              </a:tblPr>
              <a:tblGrid>
                <a:gridCol w="4030425">
                  <a:extLst>
                    <a:ext uri="{9D8B030D-6E8A-4147-A177-3AD203B41FA5}">
                      <a16:colId xmlns:a16="http://schemas.microsoft.com/office/drawing/2014/main" val="20000"/>
                    </a:ext>
                  </a:extLst>
                </a:gridCol>
                <a:gridCol w="3804800">
                  <a:extLst>
                    <a:ext uri="{9D8B030D-6E8A-4147-A177-3AD203B41FA5}">
                      <a16:colId xmlns:a16="http://schemas.microsoft.com/office/drawing/2014/main" val="20001"/>
                    </a:ext>
                  </a:extLst>
                </a:gridCol>
              </a:tblGrid>
              <a:tr h="1769325">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Likely</a:t>
                      </a:r>
                      <a:endParaRPr sz="1400" u="none" strike="noStrike" cap="none" dirty="0"/>
                    </a:p>
                    <a:p>
                      <a:pPr marL="0" marR="0" lvl="0" indent="0" algn="ctr" rtl="0">
                        <a:lnSpc>
                          <a:spcPct val="100000"/>
                        </a:lnSpc>
                        <a:spcBef>
                          <a:spcPts val="0"/>
                        </a:spcBef>
                        <a:spcAft>
                          <a:spcPts val="0"/>
                        </a:spcAft>
                        <a:buClr>
                          <a:srgbClr val="000000"/>
                        </a:buClr>
                        <a:buSzPts val="3600"/>
                        <a:buFont typeface="Arial"/>
                        <a:buNone/>
                      </a:pPr>
                      <a:r>
                        <a:rPr lang="en-US" sz="1200" u="none" strike="noStrike" cap="none" dirty="0">
                          <a:solidFill>
                            <a:schemeClr val="accent3">
                              <a:lumMod val="75000"/>
                            </a:schemeClr>
                          </a:solidFill>
                        </a:rPr>
                        <a:t>STD-003</a:t>
                      </a:r>
                    </a:p>
                    <a:p>
                      <a:pPr marL="0" marR="0" lvl="0" indent="0" algn="ctr" rtl="0">
                        <a:lnSpc>
                          <a:spcPct val="100000"/>
                        </a:lnSpc>
                        <a:spcBef>
                          <a:spcPts val="0"/>
                        </a:spcBef>
                        <a:spcAft>
                          <a:spcPts val="0"/>
                        </a:spcAft>
                        <a:buClr>
                          <a:srgbClr val="000000"/>
                        </a:buClr>
                        <a:buSzPts val="3600"/>
                        <a:buFont typeface="Arial"/>
                        <a:buNone/>
                      </a:pPr>
                      <a:r>
                        <a:rPr lang="en-US" sz="1200" u="none" strike="noStrike" cap="none" dirty="0">
                          <a:solidFill>
                            <a:schemeClr val="accent3">
                              <a:lumMod val="75000"/>
                            </a:schemeClr>
                          </a:solidFill>
                        </a:rPr>
                        <a:t>STD-005</a:t>
                      </a:r>
                    </a:p>
                    <a:p>
                      <a:pPr marL="0" marR="0" lvl="0" indent="0" algn="ctr" rtl="0">
                        <a:lnSpc>
                          <a:spcPct val="100000"/>
                        </a:lnSpc>
                        <a:spcBef>
                          <a:spcPts val="0"/>
                        </a:spcBef>
                        <a:spcAft>
                          <a:spcPts val="0"/>
                        </a:spcAft>
                        <a:buClr>
                          <a:srgbClr val="000000"/>
                        </a:buClr>
                        <a:buSzPts val="3600"/>
                        <a:buFont typeface="Arial"/>
                        <a:buNone/>
                      </a:pPr>
                      <a:r>
                        <a:rPr lang="en-US" sz="1200" u="none" strike="noStrike" cap="none" dirty="0">
                          <a:solidFill>
                            <a:schemeClr val="accent3">
                              <a:lumMod val="75000"/>
                            </a:schemeClr>
                          </a:solidFill>
                        </a:rPr>
                        <a:t>STD-009</a:t>
                      </a:r>
                    </a:p>
                    <a:p>
                      <a:pPr marL="0" marR="0" lvl="0" indent="0" algn="ctr" rtl="0">
                        <a:lnSpc>
                          <a:spcPct val="100000"/>
                        </a:lnSpc>
                        <a:spcBef>
                          <a:spcPts val="0"/>
                        </a:spcBef>
                        <a:spcAft>
                          <a:spcPts val="0"/>
                        </a:spcAft>
                        <a:buClr>
                          <a:srgbClr val="000000"/>
                        </a:buClr>
                        <a:buSzPts val="3600"/>
                        <a:buFont typeface="Arial"/>
                        <a:buNone/>
                      </a:pPr>
                      <a:r>
                        <a:rPr lang="en-US" sz="1200" u="none" strike="noStrike" cap="none" dirty="0">
                          <a:solidFill>
                            <a:schemeClr val="accent3">
                              <a:lumMod val="75000"/>
                            </a:schemeClr>
                          </a:solidFill>
                        </a:rPr>
                        <a:t>STD-010</a:t>
                      </a:r>
                      <a:endParaRPr sz="1200" u="none" strike="noStrike" cap="none" dirty="0">
                        <a:solidFill>
                          <a:schemeClr val="accent3">
                            <a:lumMod val="75000"/>
                          </a:schemeClr>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Priority</a:t>
                      </a:r>
                      <a:endParaRPr lang="en-US" sz="1400" u="none" strike="noStrike" cap="none" dirty="0">
                        <a:solidFill>
                          <a:srgbClr val="000000"/>
                        </a:solidFill>
                      </a:endParaRPr>
                    </a:p>
                    <a:p>
                      <a:pPr marL="0" marR="0" lvl="0" indent="0" algn="ctr" rtl="0">
                        <a:lnSpc>
                          <a:spcPct val="100000"/>
                        </a:lnSpc>
                        <a:spcBef>
                          <a:spcPts val="0"/>
                        </a:spcBef>
                        <a:spcAft>
                          <a:spcPts val="0"/>
                        </a:spcAft>
                        <a:buClr>
                          <a:srgbClr val="000000"/>
                        </a:buClr>
                        <a:buSzPts val="3600"/>
                        <a:buFont typeface="Arial"/>
                        <a:buNone/>
                      </a:pPr>
                      <a:r>
                        <a:rPr lang="en-US" sz="1200" u="none" strike="noStrike" cap="none" dirty="0">
                          <a:solidFill>
                            <a:schemeClr val="accent3">
                              <a:lumMod val="75000"/>
                            </a:schemeClr>
                          </a:solidFill>
                        </a:rPr>
                        <a:t>STD-002</a:t>
                      </a:r>
                    </a:p>
                    <a:p>
                      <a:pPr marL="0" marR="0" lvl="0" indent="0" algn="ctr" rtl="0">
                        <a:lnSpc>
                          <a:spcPct val="100000"/>
                        </a:lnSpc>
                        <a:spcBef>
                          <a:spcPts val="0"/>
                        </a:spcBef>
                        <a:spcAft>
                          <a:spcPts val="0"/>
                        </a:spcAft>
                        <a:buClr>
                          <a:srgbClr val="000000"/>
                        </a:buClr>
                        <a:buSzPts val="3600"/>
                        <a:buFont typeface="Arial"/>
                        <a:buNone/>
                      </a:pPr>
                      <a:r>
                        <a:rPr lang="en-US" sz="1200" u="none" strike="noStrike" cap="none" dirty="0">
                          <a:solidFill>
                            <a:schemeClr val="accent3">
                              <a:lumMod val="75000"/>
                            </a:schemeClr>
                          </a:solidFill>
                        </a:rPr>
                        <a:t>STD-004</a:t>
                      </a:r>
                    </a:p>
                    <a:p>
                      <a:pPr marL="0" marR="0" lvl="0" indent="0" algn="ctr" rtl="0">
                        <a:lnSpc>
                          <a:spcPct val="100000"/>
                        </a:lnSpc>
                        <a:spcBef>
                          <a:spcPts val="0"/>
                        </a:spcBef>
                        <a:spcAft>
                          <a:spcPts val="0"/>
                        </a:spcAft>
                        <a:buClr>
                          <a:srgbClr val="000000"/>
                        </a:buClr>
                        <a:buSzPts val="3600"/>
                        <a:buFont typeface="Arial"/>
                        <a:buNone/>
                      </a:pPr>
                      <a:r>
                        <a:rPr lang="en-US" sz="1200" u="none" strike="noStrike" cap="none" dirty="0">
                          <a:solidFill>
                            <a:schemeClr val="accent3">
                              <a:lumMod val="75000"/>
                            </a:schemeClr>
                          </a:solidFill>
                        </a:rPr>
                        <a:t>STD-008</a:t>
                      </a:r>
                      <a:endParaRPr sz="1200" u="none" strike="noStrike" cap="none" dirty="0">
                        <a:solidFill>
                          <a:schemeClr val="accent3">
                            <a:lumMod val="75000"/>
                          </a:schemeClr>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1769325">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Low priority</a:t>
                      </a:r>
                      <a:endParaRPr sz="1400" u="none" strike="noStrike" cap="none" dirty="0"/>
                    </a:p>
                    <a:p>
                      <a:pPr marL="0" marR="0" lvl="0" indent="0" algn="ctr" rtl="0">
                        <a:lnSpc>
                          <a:spcPct val="100000"/>
                        </a:lnSpc>
                        <a:spcBef>
                          <a:spcPts val="0"/>
                        </a:spcBef>
                        <a:spcAft>
                          <a:spcPts val="0"/>
                        </a:spcAft>
                        <a:buClr>
                          <a:srgbClr val="000000"/>
                        </a:buClr>
                        <a:buSzPts val="3600"/>
                        <a:buFont typeface="Arial"/>
                        <a:buNone/>
                      </a:pPr>
                      <a:r>
                        <a:rPr lang="en-US" sz="1200" u="none" strike="noStrike" cap="none" dirty="0">
                          <a:solidFill>
                            <a:schemeClr val="accent3">
                              <a:lumMod val="75000"/>
                            </a:schemeClr>
                          </a:solidFill>
                        </a:rPr>
                        <a:t>STD-001</a:t>
                      </a:r>
                      <a:endParaRPr sz="1200" u="none" strike="noStrike" cap="none" dirty="0">
                        <a:solidFill>
                          <a:schemeClr val="accent3">
                            <a:lumMod val="75000"/>
                          </a:schemeClr>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Unlikely</a:t>
                      </a:r>
                    </a:p>
                    <a:p>
                      <a:pPr marL="0" marR="0" lvl="0" indent="0" algn="ctr" rtl="0">
                        <a:lnSpc>
                          <a:spcPct val="100000"/>
                        </a:lnSpc>
                        <a:spcBef>
                          <a:spcPts val="0"/>
                        </a:spcBef>
                        <a:spcAft>
                          <a:spcPts val="0"/>
                        </a:spcAft>
                        <a:buClr>
                          <a:srgbClr val="000000"/>
                        </a:buClr>
                        <a:buSzPts val="3600"/>
                        <a:buFont typeface="Arial"/>
                        <a:buNone/>
                      </a:pPr>
                      <a:r>
                        <a:rPr lang="en-US" sz="1200" u="none" strike="noStrike" cap="none" dirty="0">
                          <a:solidFill>
                            <a:schemeClr val="accent3">
                              <a:lumMod val="75000"/>
                            </a:schemeClr>
                          </a:solidFill>
                        </a:rPr>
                        <a:t>STD-006</a:t>
                      </a:r>
                    </a:p>
                    <a:p>
                      <a:pPr marL="0" marR="0" lvl="0" indent="0" algn="ctr" rtl="0">
                        <a:lnSpc>
                          <a:spcPct val="100000"/>
                        </a:lnSpc>
                        <a:spcBef>
                          <a:spcPts val="0"/>
                        </a:spcBef>
                        <a:spcAft>
                          <a:spcPts val="0"/>
                        </a:spcAft>
                        <a:buClr>
                          <a:srgbClr val="000000"/>
                        </a:buClr>
                        <a:buSzPts val="3600"/>
                        <a:buFont typeface="Arial"/>
                        <a:buNone/>
                      </a:pPr>
                      <a:r>
                        <a:rPr lang="en-US" sz="1200" u="none" strike="noStrike" cap="none" dirty="0">
                          <a:solidFill>
                            <a:schemeClr val="accent3">
                              <a:lumMod val="75000"/>
                            </a:schemeClr>
                          </a:solidFill>
                        </a:rPr>
                        <a:t>STD-007</a:t>
                      </a:r>
                      <a:endParaRPr sz="1200" u="none" strike="noStrike" cap="none" dirty="0">
                        <a:solidFill>
                          <a:schemeClr val="accent3">
                            <a:lumMod val="75000"/>
                          </a:schemeClr>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1"/>
                  </a:ext>
                </a:extLst>
              </a:tr>
            </a:tbl>
          </a:graphicData>
        </a:graphic>
      </p:graphicFrame>
      <p:pic>
        <p:nvPicPr>
          <p:cNvPr id="162" name="Google Shape;162;p4"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10 PRINCIPLES</a:t>
            </a:r>
            <a:endParaRPr/>
          </a:p>
        </p:txBody>
      </p:sp>
      <p:sp>
        <p:nvSpPr>
          <p:cNvPr id="168" name="Google Shape;168;p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fontScale="77500" lnSpcReduction="20000"/>
          </a:bodyPr>
          <a:lstStyle/>
          <a:p>
            <a:pPr marL="114300" indent="0">
              <a:buNone/>
            </a:pPr>
            <a:r>
              <a:rPr lang="en-US" dirty="0"/>
              <a:t>The policy is built on 10 secure development principles:</a:t>
            </a:r>
          </a:p>
          <a:p>
            <a:r>
              <a:rPr lang="en-US" dirty="0"/>
              <a:t>Validate Input Data → STD-002, STD-008, STD-004 </a:t>
            </a:r>
          </a:p>
          <a:p>
            <a:r>
              <a:rPr lang="en-US" dirty="0"/>
              <a:t>Heed Compiler Warnings → STD-001, STD-009 </a:t>
            </a:r>
          </a:p>
          <a:p>
            <a:r>
              <a:rPr lang="en-US" dirty="0"/>
              <a:t>Architect for Security → STD-007 </a:t>
            </a:r>
          </a:p>
          <a:p>
            <a:r>
              <a:rPr lang="en-US" dirty="0"/>
              <a:t>Keep It Simple → STD-005 </a:t>
            </a:r>
          </a:p>
          <a:p>
            <a:r>
              <a:rPr lang="en-US" dirty="0"/>
              <a:t>Default Deny → STD-006, STD-010 </a:t>
            </a:r>
          </a:p>
          <a:p>
            <a:r>
              <a:rPr lang="en-US" dirty="0"/>
              <a:t>Least Privilege → STD-010 </a:t>
            </a:r>
          </a:p>
          <a:p>
            <a:r>
              <a:rPr lang="en-US" dirty="0"/>
              <a:t>Sanitize Data → STD-002, STD-004, STD-008 </a:t>
            </a:r>
          </a:p>
          <a:p>
            <a:r>
              <a:rPr lang="en-US" dirty="0"/>
              <a:t>Defense in Depth → STD-003, STD-004, STD-005 </a:t>
            </a:r>
          </a:p>
          <a:p>
            <a:r>
              <a:rPr lang="en-US" dirty="0"/>
              <a:t>Quality Assurance → STD-007 </a:t>
            </a:r>
          </a:p>
          <a:p>
            <a:r>
              <a:rPr lang="en-US" dirty="0"/>
              <a:t>Secure Coding Standards → STD-001, STD-009 </a:t>
            </a:r>
          </a:p>
          <a:p>
            <a:pPr marL="114300" indent="0">
              <a:buNone/>
            </a:pPr>
            <a:r>
              <a:rPr lang="en-US" dirty="0"/>
              <a:t>These principles ensure that every coding standard is supported by industry best practices.</a:t>
            </a:r>
          </a:p>
          <a:p>
            <a:pPr marL="0" lvl="0" indent="0" algn="l" rtl="0">
              <a:lnSpc>
                <a:spcPct val="90000"/>
              </a:lnSpc>
              <a:spcBef>
                <a:spcPts val="0"/>
              </a:spcBef>
              <a:spcAft>
                <a:spcPts val="0"/>
              </a:spcAft>
              <a:buClr>
                <a:schemeClr val="lt1"/>
              </a:buClr>
              <a:buSzPts val="2200"/>
              <a:buNone/>
            </a:pPr>
            <a:endParaRPr dirty="0"/>
          </a:p>
        </p:txBody>
      </p:sp>
      <p:pic>
        <p:nvPicPr>
          <p:cNvPr id="169" name="Google Shape;169;p5"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6"/>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CODING STANDARDS</a:t>
            </a:r>
            <a:endParaRPr/>
          </a:p>
        </p:txBody>
      </p:sp>
      <p:sp>
        <p:nvSpPr>
          <p:cNvPr id="175" name="Google Shape;175;p6"/>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numCol="2" anchor="t" anchorCtr="0">
            <a:normAutofit/>
          </a:bodyPr>
          <a:lstStyle/>
          <a:p>
            <a:pPr marL="114300" indent="0">
              <a:buNone/>
            </a:pPr>
            <a:r>
              <a:rPr lang="en-US" sz="2000" dirty="0"/>
              <a:t>The policy defines 10 coding standards addressing common vulnerabilities:</a:t>
            </a:r>
          </a:p>
          <a:p>
            <a:r>
              <a:rPr lang="en-US" sz="2000" dirty="0"/>
              <a:t>STD-001: Data Type Safety </a:t>
            </a:r>
          </a:p>
          <a:p>
            <a:r>
              <a:rPr lang="en-US" sz="2000" dirty="0"/>
              <a:t>STD-002: Input Validation </a:t>
            </a:r>
          </a:p>
          <a:p>
            <a:r>
              <a:rPr lang="en-US" sz="2000" dirty="0"/>
              <a:t>STD-003: Buffer Overflow Prevention </a:t>
            </a:r>
          </a:p>
          <a:p>
            <a:r>
              <a:rPr lang="en-US" sz="2000" dirty="0"/>
              <a:t>STD-004: SQL Injection Prevention </a:t>
            </a:r>
          </a:p>
          <a:p>
            <a:r>
              <a:rPr lang="en-US" sz="2000" dirty="0"/>
              <a:t>STD-005: Memory Management </a:t>
            </a:r>
          </a:p>
          <a:p>
            <a:r>
              <a:rPr lang="en-US" sz="2000" dirty="0"/>
              <a:t>STD-006: Assertion Misuse </a:t>
            </a:r>
          </a:p>
          <a:p>
            <a:r>
              <a:rPr lang="en-US" sz="2000" dirty="0"/>
              <a:t>STD-007: Exception Handling </a:t>
            </a:r>
          </a:p>
          <a:p>
            <a:r>
              <a:rPr lang="en-US" sz="2000" dirty="0"/>
              <a:t>STD-008: Input Sanitization </a:t>
            </a:r>
          </a:p>
          <a:p>
            <a:r>
              <a:rPr lang="en-US" sz="2000" dirty="0"/>
              <a:t>STD-009: Integer Overflow </a:t>
            </a:r>
          </a:p>
          <a:p>
            <a:r>
              <a:rPr lang="en-US" sz="2000" dirty="0"/>
              <a:t>STD-010: Sensitive Data Logging </a:t>
            </a:r>
          </a:p>
          <a:p>
            <a:pPr marL="114300" indent="0">
              <a:buNone/>
            </a:pPr>
            <a:r>
              <a:rPr lang="en-US" sz="2000" b="1" dirty="0"/>
              <a:t>Risk Ranking System:</a:t>
            </a:r>
            <a:endParaRPr lang="en-US" sz="2000" dirty="0"/>
          </a:p>
          <a:p>
            <a:r>
              <a:rPr lang="en-US" sz="2000" dirty="0"/>
              <a:t>Severity: Impact of exploit </a:t>
            </a:r>
          </a:p>
          <a:p>
            <a:r>
              <a:rPr lang="en-US" sz="2000" dirty="0"/>
              <a:t>Likelihood: Ease of exploitation </a:t>
            </a:r>
          </a:p>
          <a:p>
            <a:r>
              <a:rPr lang="en-US" sz="2000" dirty="0"/>
              <a:t>Risk Level (1–5): Combined score </a:t>
            </a:r>
          </a:p>
          <a:p>
            <a:r>
              <a:rPr lang="en-US" sz="2000" dirty="0"/>
              <a:t>Highest Risk: SQL Injection (5)</a:t>
            </a:r>
            <a:br>
              <a:rPr lang="en-US" sz="2000" dirty="0"/>
            </a:br>
            <a:r>
              <a:rPr lang="en-US" sz="2000" dirty="0"/>
              <a:t>Lowest Risk: Assertion misuse (3)</a:t>
            </a:r>
          </a:p>
        </p:txBody>
      </p:sp>
      <p:pic>
        <p:nvPicPr>
          <p:cNvPr id="176" name="Google Shape;176;p6"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ENCRYPTION POLICIES</a:t>
            </a:r>
            <a:endParaRPr/>
          </a:p>
        </p:txBody>
      </p:sp>
      <p:sp>
        <p:nvSpPr>
          <p:cNvPr id="182" name="Google Shape;182;p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fontScale="77500" lnSpcReduction="20000"/>
          </a:bodyPr>
          <a:lstStyle/>
          <a:p>
            <a:pPr marL="114300" indent="0">
              <a:buNone/>
            </a:pPr>
            <a:r>
              <a:rPr lang="en-US" b="1" dirty="0"/>
              <a:t>Encryption at Rest</a:t>
            </a:r>
            <a:endParaRPr lang="en-US" dirty="0"/>
          </a:p>
          <a:p>
            <a:r>
              <a:rPr lang="en-US" dirty="0"/>
              <a:t>Uses AES-256 </a:t>
            </a:r>
          </a:p>
          <a:p>
            <a:r>
              <a:rPr lang="en-US" dirty="0"/>
              <a:t>Protects stored data (databases, files) </a:t>
            </a:r>
          </a:p>
          <a:p>
            <a:r>
              <a:rPr lang="en-US" dirty="0"/>
              <a:t>Prevents unauthorized access if storage is compromised </a:t>
            </a:r>
          </a:p>
          <a:p>
            <a:pPr marL="114300" indent="0">
              <a:buNone/>
            </a:pPr>
            <a:r>
              <a:rPr lang="en-US" b="1" dirty="0"/>
              <a:t>Encryption in Flight</a:t>
            </a:r>
            <a:endParaRPr lang="en-US" dirty="0"/>
          </a:p>
          <a:p>
            <a:r>
              <a:rPr lang="en-US" dirty="0"/>
              <a:t>Uses TLS 1.2+ </a:t>
            </a:r>
          </a:p>
          <a:p>
            <a:r>
              <a:rPr lang="en-US" dirty="0"/>
              <a:t>Protects data during transmission </a:t>
            </a:r>
          </a:p>
          <a:p>
            <a:r>
              <a:rPr lang="en-US" dirty="0"/>
              <a:t>Prevents interception and man-in-the-middle attacks </a:t>
            </a:r>
          </a:p>
          <a:p>
            <a:pPr marL="114300" indent="0">
              <a:buNone/>
            </a:pPr>
            <a:r>
              <a:rPr lang="en-US" b="1" dirty="0"/>
              <a:t>Encryption in Use</a:t>
            </a:r>
            <a:endParaRPr lang="en-US" dirty="0"/>
          </a:p>
          <a:p>
            <a:r>
              <a:rPr lang="en-US" dirty="0"/>
              <a:t>Protects data in memory </a:t>
            </a:r>
          </a:p>
          <a:p>
            <a:r>
              <a:rPr lang="en-US" dirty="0"/>
              <a:t>Uses secure enclaves/confidential computing </a:t>
            </a:r>
          </a:p>
          <a:p>
            <a:r>
              <a:rPr lang="en-US" dirty="0"/>
              <a:t>Applies to sensitive data like credentials </a:t>
            </a:r>
          </a:p>
          <a:p>
            <a:pPr marL="228600" lvl="0" indent="-88900" algn="l" rtl="0">
              <a:lnSpc>
                <a:spcPct val="90000"/>
              </a:lnSpc>
              <a:spcBef>
                <a:spcPts val="1000"/>
              </a:spcBef>
              <a:spcAft>
                <a:spcPts val="0"/>
              </a:spcAft>
              <a:buClr>
                <a:schemeClr val="lt1"/>
              </a:buClr>
              <a:buSzPts val="2200"/>
              <a:buNone/>
            </a:pPr>
            <a:endParaRPr dirty="0"/>
          </a:p>
        </p:txBody>
      </p:sp>
      <p:pic>
        <p:nvPicPr>
          <p:cNvPr id="183" name="Google Shape;183;p7"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8"/>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TRIPLE-A POLICIES</a:t>
            </a:r>
            <a:endParaRPr/>
          </a:p>
        </p:txBody>
      </p:sp>
      <p:sp>
        <p:nvSpPr>
          <p:cNvPr id="189" name="Google Shape;189;p8"/>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fontScale="92500" lnSpcReduction="20000"/>
          </a:bodyPr>
          <a:lstStyle/>
          <a:p>
            <a:pPr marL="114300" indent="0">
              <a:buNone/>
            </a:pPr>
            <a:r>
              <a:rPr lang="en-US" b="1" dirty="0"/>
              <a:t>Authentication</a:t>
            </a:r>
            <a:endParaRPr lang="en-US" dirty="0"/>
          </a:p>
          <a:p>
            <a:r>
              <a:rPr lang="en-US" dirty="0"/>
              <a:t>Verifies identity using secure login and MFA </a:t>
            </a:r>
          </a:p>
          <a:p>
            <a:r>
              <a:rPr lang="en-US" dirty="0"/>
              <a:t>Prevents unauthorized access </a:t>
            </a:r>
          </a:p>
          <a:p>
            <a:pPr marL="114300" indent="0">
              <a:buNone/>
            </a:pPr>
            <a:r>
              <a:rPr lang="en-US" b="1" dirty="0"/>
              <a:t>Authorization</a:t>
            </a:r>
            <a:endParaRPr lang="en-US" dirty="0"/>
          </a:p>
          <a:p>
            <a:r>
              <a:rPr lang="en-US" dirty="0"/>
              <a:t>Uses role-based access control (RBAC) </a:t>
            </a:r>
          </a:p>
          <a:p>
            <a:r>
              <a:rPr lang="en-US" dirty="0"/>
              <a:t>Ensures least privilege access </a:t>
            </a:r>
          </a:p>
          <a:p>
            <a:pPr marL="114300" indent="0">
              <a:buNone/>
            </a:pPr>
            <a:r>
              <a:rPr lang="en-US" b="1" dirty="0"/>
              <a:t>Accounting</a:t>
            </a:r>
            <a:endParaRPr lang="en-US" dirty="0"/>
          </a:p>
          <a:p>
            <a:r>
              <a:rPr lang="en-US" dirty="0"/>
              <a:t>Tracks: </a:t>
            </a:r>
          </a:p>
          <a:p>
            <a:pPr lvl="1"/>
            <a:r>
              <a:rPr lang="en-US" dirty="0"/>
              <a:t>User logins </a:t>
            </a:r>
          </a:p>
          <a:p>
            <a:pPr lvl="1"/>
            <a:r>
              <a:rPr lang="en-US" dirty="0"/>
              <a:t>File access </a:t>
            </a:r>
          </a:p>
          <a:p>
            <a:pPr lvl="1"/>
            <a:r>
              <a:rPr lang="en-US" dirty="0"/>
              <a:t>Database changes </a:t>
            </a:r>
          </a:p>
          <a:p>
            <a:r>
              <a:rPr lang="en-US" dirty="0"/>
              <a:t>Supports auditing and incident response</a:t>
            </a:r>
          </a:p>
        </p:txBody>
      </p:sp>
      <p:pic>
        <p:nvPicPr>
          <p:cNvPr id="190" name="Google Shape;190;p8"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a:t>Unit Testing</a:t>
            </a:r>
            <a:endParaRPr/>
          </a:p>
        </p:txBody>
      </p:sp>
      <p:sp>
        <p:nvSpPr>
          <p:cNvPr id="196" name="Google Shape;196;g9504e29505_0_0"/>
          <p:cNvSpPr txBox="1">
            <a:spLocks noGrp="1"/>
          </p:cNvSpPr>
          <p:nvPr>
            <p:ph type="body" idx="1"/>
          </p:nvPr>
        </p:nvSpPr>
        <p:spPr>
          <a:xfrm>
            <a:off x="685800" y="2194560"/>
            <a:ext cx="10820400" cy="4024200"/>
          </a:xfrm>
          <a:prstGeom prst="rect">
            <a:avLst/>
          </a:prstGeom>
          <a:noFill/>
          <a:ln>
            <a:noFill/>
          </a:ln>
        </p:spPr>
        <p:txBody>
          <a:bodyPr spcFirstLastPara="1" wrap="square" lIns="91425" tIns="45700" rIns="91425" bIns="45700" anchor="t" anchorCtr="0">
            <a:noAutofit/>
          </a:bodyPr>
          <a:lstStyle/>
          <a:p>
            <a:r>
              <a:rPr lang="en-US" b="1" dirty="0"/>
              <a:t>Selected Vulnerability:</a:t>
            </a:r>
            <a:r>
              <a:rPr lang="en-US" dirty="0"/>
              <a:t> Input Validation (STD-002)</a:t>
            </a:r>
          </a:p>
          <a:p>
            <a:r>
              <a:rPr lang="en-US" dirty="0"/>
              <a:t>Testing ensures that invalid or malicious input is rejected before processing.</a:t>
            </a:r>
          </a:p>
          <a:p>
            <a:r>
              <a:rPr lang="en-US" dirty="0"/>
              <a:t>The following tests evaluate system behavior using valid, invalid, and edge-case inputs.</a:t>
            </a:r>
          </a:p>
        </p:txBody>
      </p:sp>
      <p:pic>
        <p:nvPicPr>
          <p:cNvPr id="197" name="Google Shape;197;g9504e29505_0_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509E11B5-EA29-7C74-6D1E-D39F569CCD03}"/>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5F6A4DBD-CDB3-F21F-3F4A-C8AE7075A37B}"/>
              </a:ext>
            </a:extLst>
          </p:cNvPr>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a:t>Unit Testing</a:t>
            </a:r>
            <a:endParaRPr/>
          </a:p>
        </p:txBody>
      </p:sp>
      <p:sp>
        <p:nvSpPr>
          <p:cNvPr id="196" name="Google Shape;196;g9504e29505_0_0">
            <a:extLst>
              <a:ext uri="{FF2B5EF4-FFF2-40B4-BE49-F238E27FC236}">
                <a16:creationId xmlns:a16="http://schemas.microsoft.com/office/drawing/2014/main" id="{FF67BD35-9B1C-6CB8-5336-2A230B57EE1E}"/>
              </a:ext>
            </a:extLst>
          </p:cNvPr>
          <p:cNvSpPr txBox="1">
            <a:spLocks noGrp="1"/>
          </p:cNvSpPr>
          <p:nvPr>
            <p:ph type="body" idx="1"/>
          </p:nvPr>
        </p:nvSpPr>
        <p:spPr>
          <a:xfrm>
            <a:off x="685800" y="2194560"/>
            <a:ext cx="10820400" cy="4024200"/>
          </a:xfrm>
          <a:prstGeom prst="rect">
            <a:avLst/>
          </a:prstGeom>
          <a:noFill/>
          <a:ln>
            <a:noFill/>
          </a:ln>
        </p:spPr>
        <p:txBody>
          <a:bodyPr spcFirstLastPara="1" wrap="square" lIns="91425" tIns="45700" rIns="91425" bIns="45700" anchor="t" anchorCtr="0">
            <a:noAutofit/>
          </a:bodyPr>
          <a:lstStyle/>
          <a:p>
            <a:r>
              <a:rPr lang="en-US" b="1" dirty="0"/>
              <a:t>Test: Valid Age Input (25)</a:t>
            </a:r>
            <a:br>
              <a:rPr lang="en-US" dirty="0"/>
            </a:br>
            <a:r>
              <a:rPr lang="en-US" dirty="0"/>
              <a:t>Input: 25</a:t>
            </a:r>
            <a:br>
              <a:rPr lang="en-US" dirty="0"/>
            </a:br>
            <a:r>
              <a:rPr lang="en-US" dirty="0"/>
              <a:t>Expected Result: Accepted</a:t>
            </a:r>
            <a:br>
              <a:rPr lang="en-US" dirty="0"/>
            </a:br>
            <a:r>
              <a:rPr lang="en-US" dirty="0"/>
              <a:t>Actual Result: Accepted</a:t>
            </a:r>
          </a:p>
          <a:p>
            <a:r>
              <a:rPr lang="en-US" dirty="0"/>
              <a:t>System correctly processes valid input.</a:t>
            </a:r>
          </a:p>
        </p:txBody>
      </p:sp>
      <p:pic>
        <p:nvPicPr>
          <p:cNvPr id="197" name="Google Shape;197;g9504e29505_0_0" descr="Green Pace logo">
            <a:extLst>
              <a:ext uri="{FF2B5EF4-FFF2-40B4-BE49-F238E27FC236}">
                <a16:creationId xmlns:a16="http://schemas.microsoft.com/office/drawing/2014/main" id="{8590FA81-6F71-1ECC-7B25-23D5AFF346F3}"/>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extLst>
      <p:ext uri="{BB962C8B-B14F-4D97-AF65-F5344CB8AC3E}">
        <p14:creationId xmlns:p14="http://schemas.microsoft.com/office/powerpoint/2010/main" val="41471610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F92A1E5F-9C7F-A0A9-0E2F-AB2D25F8721A}"/>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4EFC3C97-FF7B-0F06-65DE-8308D48DED9B}"/>
              </a:ext>
            </a:extLst>
          </p:cNvPr>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a:t>Unit Testing</a:t>
            </a:r>
            <a:endParaRPr/>
          </a:p>
        </p:txBody>
      </p:sp>
      <p:sp>
        <p:nvSpPr>
          <p:cNvPr id="196" name="Google Shape;196;g9504e29505_0_0">
            <a:extLst>
              <a:ext uri="{FF2B5EF4-FFF2-40B4-BE49-F238E27FC236}">
                <a16:creationId xmlns:a16="http://schemas.microsoft.com/office/drawing/2014/main" id="{2E26FE51-47F0-372C-6143-ABABBE5CA72B}"/>
              </a:ext>
            </a:extLst>
          </p:cNvPr>
          <p:cNvSpPr txBox="1">
            <a:spLocks noGrp="1"/>
          </p:cNvSpPr>
          <p:nvPr>
            <p:ph type="body" idx="1"/>
          </p:nvPr>
        </p:nvSpPr>
        <p:spPr>
          <a:xfrm>
            <a:off x="685800" y="2194560"/>
            <a:ext cx="10820400" cy="4024200"/>
          </a:xfrm>
          <a:prstGeom prst="rect">
            <a:avLst/>
          </a:prstGeom>
          <a:noFill/>
          <a:ln>
            <a:noFill/>
          </a:ln>
        </p:spPr>
        <p:txBody>
          <a:bodyPr spcFirstLastPara="1" wrap="square" lIns="91425" tIns="45700" rIns="91425" bIns="45700" anchor="t" anchorCtr="0">
            <a:noAutofit/>
          </a:bodyPr>
          <a:lstStyle/>
          <a:p>
            <a:r>
              <a:rPr lang="en-US" b="1" dirty="0"/>
              <a:t>Test: Negative Age (-1)</a:t>
            </a:r>
            <a:br>
              <a:rPr lang="en-US" dirty="0"/>
            </a:br>
            <a:r>
              <a:rPr lang="en-US" dirty="0"/>
              <a:t>Input: -1</a:t>
            </a:r>
            <a:br>
              <a:rPr lang="en-US" dirty="0"/>
            </a:br>
            <a:r>
              <a:rPr lang="en-US" dirty="0"/>
              <a:t>Expected Result: Rejected</a:t>
            </a:r>
            <a:br>
              <a:rPr lang="en-US" dirty="0"/>
            </a:br>
            <a:r>
              <a:rPr lang="en-US" dirty="0"/>
              <a:t>Actual Result: Rejected</a:t>
            </a:r>
          </a:p>
          <a:p>
            <a:r>
              <a:rPr lang="en-US" dirty="0"/>
              <a:t>Invalid input correctly blocked.</a:t>
            </a:r>
          </a:p>
        </p:txBody>
      </p:sp>
      <p:pic>
        <p:nvPicPr>
          <p:cNvPr id="197" name="Google Shape;197;g9504e29505_0_0" descr="Green Pace logo">
            <a:extLst>
              <a:ext uri="{FF2B5EF4-FFF2-40B4-BE49-F238E27FC236}">
                <a16:creationId xmlns:a16="http://schemas.microsoft.com/office/drawing/2014/main" id="{D6DF28A5-B71E-49F2-F06D-E5559BBF45A3}"/>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extLst>
      <p:ext uri="{BB962C8B-B14F-4D97-AF65-F5344CB8AC3E}">
        <p14:creationId xmlns:p14="http://schemas.microsoft.com/office/powerpoint/2010/main" val="30416068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760E6731-17A2-3F3B-57EA-A94DE81297BA}"/>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601C1A54-626D-5AF7-377D-54394C6B5F72}"/>
              </a:ext>
            </a:extLst>
          </p:cNvPr>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a:t>Unit Testing</a:t>
            </a:r>
            <a:endParaRPr/>
          </a:p>
        </p:txBody>
      </p:sp>
      <p:sp>
        <p:nvSpPr>
          <p:cNvPr id="196" name="Google Shape;196;g9504e29505_0_0">
            <a:extLst>
              <a:ext uri="{FF2B5EF4-FFF2-40B4-BE49-F238E27FC236}">
                <a16:creationId xmlns:a16="http://schemas.microsoft.com/office/drawing/2014/main" id="{4AFA6E81-FC44-D94E-966E-E018E74808C7}"/>
              </a:ext>
            </a:extLst>
          </p:cNvPr>
          <p:cNvSpPr txBox="1">
            <a:spLocks noGrp="1"/>
          </p:cNvSpPr>
          <p:nvPr>
            <p:ph type="body" idx="1"/>
          </p:nvPr>
        </p:nvSpPr>
        <p:spPr>
          <a:xfrm>
            <a:off x="685800" y="2194560"/>
            <a:ext cx="10820400" cy="4024200"/>
          </a:xfrm>
          <a:prstGeom prst="rect">
            <a:avLst/>
          </a:prstGeom>
          <a:noFill/>
          <a:ln>
            <a:noFill/>
          </a:ln>
        </p:spPr>
        <p:txBody>
          <a:bodyPr spcFirstLastPara="1" wrap="square" lIns="91425" tIns="45700" rIns="91425" bIns="45700" anchor="t" anchorCtr="0">
            <a:noAutofit/>
          </a:bodyPr>
          <a:lstStyle/>
          <a:p>
            <a:r>
              <a:rPr lang="en-US" b="1" dirty="0"/>
              <a:t>Test: Age Above Limit (150)</a:t>
            </a:r>
            <a:br>
              <a:rPr lang="en-US" dirty="0"/>
            </a:br>
            <a:r>
              <a:rPr lang="en-US" dirty="0"/>
              <a:t>Input: 150</a:t>
            </a:r>
            <a:br>
              <a:rPr lang="en-US" dirty="0"/>
            </a:br>
            <a:r>
              <a:rPr lang="en-US" dirty="0"/>
              <a:t>Expected Result: Rejected</a:t>
            </a:r>
            <a:br>
              <a:rPr lang="en-US" dirty="0"/>
            </a:br>
            <a:r>
              <a:rPr lang="en-US" dirty="0"/>
              <a:t>Actual Result: Rejected</a:t>
            </a:r>
          </a:p>
          <a:p>
            <a:r>
              <a:rPr lang="en-US" dirty="0"/>
              <a:t>Out-of-range input prevented.</a:t>
            </a:r>
          </a:p>
          <a:p>
            <a:pPr marL="0" lvl="0" indent="0" algn="l" rtl="0">
              <a:lnSpc>
                <a:spcPct val="90000"/>
              </a:lnSpc>
              <a:spcBef>
                <a:spcPts val="1000"/>
              </a:spcBef>
              <a:spcAft>
                <a:spcPts val="0"/>
              </a:spcAft>
              <a:buSzPts val="1800"/>
              <a:buNone/>
            </a:pPr>
            <a:endParaRPr dirty="0"/>
          </a:p>
        </p:txBody>
      </p:sp>
      <p:pic>
        <p:nvPicPr>
          <p:cNvPr id="197" name="Google Shape;197;g9504e29505_0_0" descr="Green Pace logo">
            <a:extLst>
              <a:ext uri="{FF2B5EF4-FFF2-40B4-BE49-F238E27FC236}">
                <a16:creationId xmlns:a16="http://schemas.microsoft.com/office/drawing/2014/main" id="{9325CF89-A2B6-9810-E1B4-BA02B189E3DD}"/>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extLst>
      <p:ext uri="{BB962C8B-B14F-4D97-AF65-F5344CB8AC3E}">
        <p14:creationId xmlns:p14="http://schemas.microsoft.com/office/powerpoint/2010/main" val="619287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AF3AD325-FB7E-F083-788A-819738BA07E9}"/>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B13AD78A-0A42-59CD-1E79-9E0F47F61FDA}"/>
              </a:ext>
            </a:extLst>
          </p:cNvPr>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a:t>Unit Testing</a:t>
            </a:r>
            <a:endParaRPr/>
          </a:p>
        </p:txBody>
      </p:sp>
      <p:sp>
        <p:nvSpPr>
          <p:cNvPr id="196" name="Google Shape;196;g9504e29505_0_0">
            <a:extLst>
              <a:ext uri="{FF2B5EF4-FFF2-40B4-BE49-F238E27FC236}">
                <a16:creationId xmlns:a16="http://schemas.microsoft.com/office/drawing/2014/main" id="{54ADBB59-23A9-090A-A480-1EB345B3F787}"/>
              </a:ext>
            </a:extLst>
          </p:cNvPr>
          <p:cNvSpPr txBox="1">
            <a:spLocks noGrp="1"/>
          </p:cNvSpPr>
          <p:nvPr>
            <p:ph type="body" idx="1"/>
          </p:nvPr>
        </p:nvSpPr>
        <p:spPr>
          <a:xfrm>
            <a:off x="685800" y="2194560"/>
            <a:ext cx="10820400" cy="4024200"/>
          </a:xfrm>
          <a:prstGeom prst="rect">
            <a:avLst/>
          </a:prstGeom>
          <a:noFill/>
          <a:ln>
            <a:noFill/>
          </a:ln>
        </p:spPr>
        <p:txBody>
          <a:bodyPr spcFirstLastPara="1" wrap="square" lIns="91425" tIns="45700" rIns="91425" bIns="45700" anchor="t" anchorCtr="0">
            <a:noAutofit/>
          </a:bodyPr>
          <a:lstStyle/>
          <a:p>
            <a:r>
              <a:rPr lang="en-US" b="1" dirty="0"/>
              <a:t>Test: Non-Numeric Input ("</a:t>
            </a:r>
            <a:r>
              <a:rPr lang="en-US" b="1" dirty="0" err="1"/>
              <a:t>abc</a:t>
            </a:r>
            <a:r>
              <a:rPr lang="en-US" b="1" dirty="0"/>
              <a:t>")</a:t>
            </a:r>
            <a:br>
              <a:rPr lang="en-US" dirty="0"/>
            </a:br>
            <a:r>
              <a:rPr lang="en-US" dirty="0"/>
              <a:t>Input: "</a:t>
            </a:r>
            <a:r>
              <a:rPr lang="en-US" dirty="0" err="1"/>
              <a:t>abc</a:t>
            </a:r>
            <a:r>
              <a:rPr lang="en-US" dirty="0"/>
              <a:t>"</a:t>
            </a:r>
            <a:br>
              <a:rPr lang="en-US" dirty="0"/>
            </a:br>
            <a:r>
              <a:rPr lang="en-US" dirty="0"/>
              <a:t>Expected Result: Error</a:t>
            </a:r>
            <a:br>
              <a:rPr lang="en-US" dirty="0"/>
            </a:br>
            <a:r>
              <a:rPr lang="en-US" dirty="0"/>
              <a:t>Actual Result: Error</a:t>
            </a:r>
          </a:p>
          <a:p>
            <a:r>
              <a:rPr lang="en-US" dirty="0"/>
              <a:t>System prevents invalid data types.</a:t>
            </a:r>
          </a:p>
          <a:p>
            <a:pPr marL="0" lvl="0" indent="0" algn="l" rtl="0">
              <a:lnSpc>
                <a:spcPct val="90000"/>
              </a:lnSpc>
              <a:spcBef>
                <a:spcPts val="1000"/>
              </a:spcBef>
              <a:spcAft>
                <a:spcPts val="0"/>
              </a:spcAft>
              <a:buSzPts val="1800"/>
              <a:buNone/>
            </a:pPr>
            <a:endParaRPr dirty="0"/>
          </a:p>
        </p:txBody>
      </p:sp>
      <p:pic>
        <p:nvPicPr>
          <p:cNvPr id="197" name="Google Shape;197;g9504e29505_0_0" descr="Green Pace logo">
            <a:extLst>
              <a:ext uri="{FF2B5EF4-FFF2-40B4-BE49-F238E27FC236}">
                <a16:creationId xmlns:a16="http://schemas.microsoft.com/office/drawing/2014/main" id="{E1FA3988-05A6-FEF6-F1C3-DE99EFBB2BE6}"/>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extLst>
      <p:ext uri="{BB962C8B-B14F-4D97-AF65-F5344CB8AC3E}">
        <p14:creationId xmlns:p14="http://schemas.microsoft.com/office/powerpoint/2010/main" val="21793037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AUTOMATION SUMMARY</a:t>
            </a:r>
            <a:endParaRPr/>
          </a:p>
        </p:txBody>
      </p:sp>
      <p:pic>
        <p:nvPicPr>
          <p:cNvPr id="203" name="Google Shape;203;p9"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p:cNvPicPr preferRelativeResize="0">
            <a:picLocks noGrp="1"/>
          </p:cNvPicPr>
          <p:nvPr>
            <p:ph type="body" idx="1"/>
          </p:nvPr>
        </p:nvPicPr>
        <p:blipFill rotWithShape="1">
          <a:blip r:embed="rId4">
            <a:alphaModFix/>
          </a:blip>
          <a:srcRect/>
          <a:stretch/>
        </p:blipFill>
        <p:spPr>
          <a:xfrm>
            <a:off x="2127250" y="2199481"/>
            <a:ext cx="7937500" cy="4013200"/>
          </a:xfrm>
          <a:prstGeom prst="rect">
            <a:avLst/>
          </a:prstGeom>
          <a:noFill/>
          <a:ln>
            <a:noFill/>
          </a:ln>
        </p:spPr>
      </p:pic>
      <p:pic>
        <p:nvPicPr>
          <p:cNvPr id="204" name="Google Shape;204;p9"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0"/>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TOOLS</a:t>
            </a:r>
            <a:endParaRPr/>
          </a:p>
        </p:txBody>
      </p:sp>
      <p:sp>
        <p:nvSpPr>
          <p:cNvPr id="210" name="Google Shape;210;p10"/>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114300" indent="0">
              <a:buNone/>
            </a:pPr>
            <a:r>
              <a:rPr lang="en-US" dirty="0"/>
              <a:t>Security is integrated throughout the </a:t>
            </a:r>
            <a:r>
              <a:rPr lang="en-US" dirty="0" err="1"/>
              <a:t>DevSecOps</a:t>
            </a:r>
            <a:r>
              <a:rPr lang="en-US" dirty="0"/>
              <a:t> pipeline:</a:t>
            </a:r>
          </a:p>
          <a:p>
            <a:r>
              <a:rPr lang="en-US" b="1" dirty="0"/>
              <a:t>Development:</a:t>
            </a:r>
            <a:r>
              <a:rPr lang="en-US" dirty="0"/>
              <a:t> </a:t>
            </a:r>
            <a:r>
              <a:rPr lang="en-US" dirty="0" err="1"/>
              <a:t>SonarLint</a:t>
            </a:r>
            <a:r>
              <a:rPr lang="en-US" dirty="0"/>
              <a:t>, Clang-Tidy detect issues early </a:t>
            </a:r>
          </a:p>
          <a:p>
            <a:r>
              <a:rPr lang="en-US" b="1" dirty="0"/>
              <a:t>Build:</a:t>
            </a:r>
            <a:r>
              <a:rPr lang="en-US" dirty="0"/>
              <a:t> SonarQube, </a:t>
            </a:r>
            <a:r>
              <a:rPr lang="en-US" dirty="0" err="1"/>
              <a:t>Checkmarx</a:t>
            </a:r>
            <a:r>
              <a:rPr lang="en-US" dirty="0"/>
              <a:t> perform static analysis </a:t>
            </a:r>
          </a:p>
          <a:p>
            <a:r>
              <a:rPr lang="en-US" b="1" dirty="0"/>
              <a:t>Testing:</a:t>
            </a:r>
            <a:r>
              <a:rPr lang="en-US" dirty="0"/>
              <a:t> </a:t>
            </a:r>
            <a:r>
              <a:rPr lang="en-US" dirty="0" err="1"/>
              <a:t>Valgrind</a:t>
            </a:r>
            <a:r>
              <a:rPr lang="en-US" dirty="0"/>
              <a:t>, </a:t>
            </a:r>
            <a:r>
              <a:rPr lang="en-US" dirty="0" err="1"/>
              <a:t>AddressSanitizer</a:t>
            </a:r>
            <a:r>
              <a:rPr lang="en-US" dirty="0"/>
              <a:t> detect runtime issues </a:t>
            </a:r>
          </a:p>
          <a:p>
            <a:r>
              <a:rPr lang="en-US" b="1" dirty="0"/>
              <a:t>Deployment:</a:t>
            </a:r>
            <a:r>
              <a:rPr lang="en-US" dirty="0"/>
              <a:t> Security gates block vulnerable releases </a:t>
            </a:r>
          </a:p>
          <a:p>
            <a:pPr marL="114300" indent="0">
              <a:buNone/>
            </a:pPr>
            <a:r>
              <a:rPr lang="en-US" dirty="0"/>
              <a:t>This ensures continuous monitoring and enforcement of security standards.</a:t>
            </a:r>
          </a:p>
        </p:txBody>
      </p:sp>
      <p:pic>
        <p:nvPicPr>
          <p:cNvPr id="211" name="Google Shape;211;p1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RISKS AND BENEFITS</a:t>
            </a:r>
            <a:endParaRPr/>
          </a:p>
        </p:txBody>
      </p:sp>
      <p:sp>
        <p:nvSpPr>
          <p:cNvPr id="217" name="Google Shape;217;p11"/>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fontScale="77500" lnSpcReduction="20000"/>
          </a:bodyPr>
          <a:lstStyle/>
          <a:p>
            <a:pPr marL="114300" indent="0">
              <a:buNone/>
            </a:pPr>
            <a:r>
              <a:rPr lang="en-US" sz="2000" b="1" dirty="0"/>
              <a:t>Problems:</a:t>
            </a:r>
            <a:endParaRPr lang="en-US" sz="2000" dirty="0"/>
          </a:p>
          <a:p>
            <a:r>
              <a:rPr lang="en-US" sz="2000" dirty="0"/>
              <a:t>Vulnerabilities in input handling, memory, and data access </a:t>
            </a:r>
          </a:p>
          <a:p>
            <a:pPr marL="114300" indent="0">
              <a:buNone/>
            </a:pPr>
            <a:r>
              <a:rPr lang="en-US" sz="2000" b="1" dirty="0"/>
              <a:t>Solutions:</a:t>
            </a:r>
            <a:endParaRPr lang="en-US" sz="2000" dirty="0"/>
          </a:p>
          <a:p>
            <a:r>
              <a:rPr lang="en-US" sz="2000" dirty="0"/>
              <a:t>Secure coding standards </a:t>
            </a:r>
          </a:p>
          <a:p>
            <a:r>
              <a:rPr lang="en-US" sz="2000" dirty="0"/>
              <a:t>Automated security tools </a:t>
            </a:r>
          </a:p>
          <a:p>
            <a:pPr marL="114300" indent="0">
              <a:buNone/>
            </a:pPr>
            <a:r>
              <a:rPr lang="en-US" sz="2000" b="1" dirty="0"/>
              <a:t>Benefits:</a:t>
            </a:r>
            <a:endParaRPr lang="en-US" sz="2000" dirty="0"/>
          </a:p>
          <a:p>
            <a:r>
              <a:rPr lang="en-US" sz="2000" dirty="0"/>
              <a:t>Early detection of vulnerabilities </a:t>
            </a:r>
          </a:p>
          <a:p>
            <a:r>
              <a:rPr lang="en-US" sz="2000" dirty="0"/>
              <a:t>Reduced risk of breaches </a:t>
            </a:r>
          </a:p>
          <a:p>
            <a:r>
              <a:rPr lang="en-US" sz="2000" dirty="0"/>
              <a:t>Consistent secure development </a:t>
            </a:r>
          </a:p>
          <a:p>
            <a:pPr marL="114300" indent="0">
              <a:buNone/>
            </a:pPr>
            <a:r>
              <a:rPr lang="en-US" sz="2000" b="1" dirty="0"/>
              <a:t>Risks:</a:t>
            </a:r>
            <a:endParaRPr lang="en-US" sz="2000" dirty="0"/>
          </a:p>
          <a:p>
            <a:r>
              <a:rPr lang="en-US" sz="2000" dirty="0"/>
              <a:t>False positives from tools </a:t>
            </a:r>
          </a:p>
          <a:p>
            <a:r>
              <a:rPr lang="en-US" sz="2000" dirty="0"/>
              <a:t>Slower development process </a:t>
            </a:r>
          </a:p>
          <a:p>
            <a:r>
              <a:rPr lang="en-US" sz="2000" dirty="0"/>
              <a:t>Over-reliance on automation</a:t>
            </a:r>
          </a:p>
        </p:txBody>
      </p:sp>
      <p:pic>
        <p:nvPicPr>
          <p:cNvPr id="218" name="Google Shape;218;p11"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RECOMMENDATIONS</a:t>
            </a:r>
            <a:endParaRPr/>
          </a:p>
        </p:txBody>
      </p:sp>
      <p:sp>
        <p:nvSpPr>
          <p:cNvPr id="224" name="Google Shape;224;p12"/>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r>
              <a:rPr lang="en-US" dirty="0"/>
              <a:t>Expand automation tools across all pipeline stages </a:t>
            </a:r>
          </a:p>
          <a:p>
            <a:r>
              <a:rPr lang="en-US" dirty="0"/>
              <a:t>Improve logging and monitoring systems </a:t>
            </a:r>
          </a:p>
          <a:p>
            <a:r>
              <a:rPr lang="en-US" dirty="0"/>
              <a:t>Implement runtime threat detection </a:t>
            </a:r>
          </a:p>
          <a:p>
            <a:r>
              <a:rPr lang="en-US" dirty="0"/>
              <a:t>Provide secure coding training for developers </a:t>
            </a:r>
          </a:p>
          <a:p>
            <a:r>
              <a:rPr lang="en-US" dirty="0"/>
              <a:t>Regularly update security standards </a:t>
            </a:r>
          </a:p>
          <a:p>
            <a:pPr marL="114300" indent="0">
              <a:buNone/>
            </a:pPr>
            <a:r>
              <a:rPr lang="en-US" dirty="0"/>
              <a:t>These improvements strengthen overall security posture.</a:t>
            </a:r>
          </a:p>
        </p:txBody>
      </p:sp>
      <p:pic>
        <p:nvPicPr>
          <p:cNvPr id="225" name="Google Shape;225;p12"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CONCLUSIONS</a:t>
            </a:r>
            <a:endParaRPr/>
          </a:p>
        </p:txBody>
      </p:sp>
      <p:sp>
        <p:nvSpPr>
          <p:cNvPr id="231" name="Google Shape;231;p13"/>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r>
              <a:rPr lang="en-US" dirty="0"/>
              <a:t>Secure coding standards reduce vulnerabilities </a:t>
            </a:r>
          </a:p>
          <a:p>
            <a:r>
              <a:rPr lang="en-US" dirty="0"/>
              <a:t>Automation ensures continuous enforcement </a:t>
            </a:r>
          </a:p>
          <a:p>
            <a:r>
              <a:rPr lang="en-US" dirty="0"/>
              <a:t>Defense in depth provides layered protection </a:t>
            </a:r>
          </a:p>
          <a:p>
            <a:r>
              <a:rPr lang="en-US" dirty="0"/>
              <a:t>Strong policies improve long-term system security </a:t>
            </a:r>
          </a:p>
          <a:p>
            <a:pPr marL="114300" indent="0">
              <a:buNone/>
            </a:pPr>
            <a:r>
              <a:rPr lang="en-US" dirty="0"/>
              <a:t>Green Pace’s security policy provides a solid foundation but should continue evolving with emerging threats.</a:t>
            </a:r>
          </a:p>
          <a:p>
            <a:pPr marL="228600" lvl="0" indent="-88900" algn="l" rtl="0">
              <a:lnSpc>
                <a:spcPct val="90000"/>
              </a:lnSpc>
              <a:spcBef>
                <a:spcPts val="1000"/>
              </a:spcBef>
              <a:spcAft>
                <a:spcPts val="0"/>
              </a:spcAft>
              <a:buClr>
                <a:schemeClr val="lt1"/>
              </a:buClr>
              <a:buSzPts val="2200"/>
              <a:buNone/>
            </a:pPr>
            <a:endParaRPr dirty="0"/>
          </a:p>
        </p:txBody>
      </p:sp>
      <p:pic>
        <p:nvPicPr>
          <p:cNvPr id="232" name="Google Shape;232;p13"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REFERENCES</a:t>
            </a:r>
            <a:endParaRPr dirty="0"/>
          </a:p>
        </p:txBody>
      </p:sp>
      <p:sp>
        <p:nvSpPr>
          <p:cNvPr id="238" name="Google Shape;238;p14"/>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r>
              <a:rPr lang="en-US" dirty="0"/>
              <a:t>OWASP. (2021). </a:t>
            </a:r>
            <a:r>
              <a:rPr lang="en-US" i="1" dirty="0"/>
              <a:t>OWASP Top 10: The ten most critical web application security risks</a:t>
            </a:r>
            <a:r>
              <a:rPr lang="en-US" dirty="0"/>
              <a:t>. </a:t>
            </a:r>
            <a:r>
              <a:rPr lang="en-US" dirty="0">
                <a:hlinkClick r:id="rId4"/>
              </a:rPr>
              <a:t>https://owasp.org/www-project-top-ten/</a:t>
            </a:r>
            <a:r>
              <a:rPr lang="en-US" dirty="0"/>
              <a:t> </a:t>
            </a:r>
          </a:p>
          <a:p>
            <a:r>
              <a:rPr lang="en-US" dirty="0"/>
              <a:t>SEI CERT. (2023). </a:t>
            </a:r>
            <a:r>
              <a:rPr lang="en-US" i="1" dirty="0"/>
              <a:t>SEI CERT C++ coding standard</a:t>
            </a:r>
            <a:r>
              <a:rPr lang="en-US" dirty="0"/>
              <a:t>. </a:t>
            </a:r>
            <a:r>
              <a:rPr lang="en-US" dirty="0">
                <a:hlinkClick r:id="rId5"/>
              </a:rPr>
              <a:t>https://wiki.sei.cmu.edu/confluence/display/cplusplus</a:t>
            </a:r>
            <a:r>
              <a:rPr lang="en-US" dirty="0"/>
              <a:t> </a:t>
            </a:r>
          </a:p>
          <a:p>
            <a:r>
              <a:rPr lang="en-US" dirty="0"/>
              <a:t>NIST. (2020). </a:t>
            </a:r>
            <a:r>
              <a:rPr lang="en-US" i="1" dirty="0"/>
              <a:t>Security and privacy controls for information systems and organizations (SP 800-53 Rev. 5)</a:t>
            </a:r>
            <a:r>
              <a:rPr lang="en-US" dirty="0"/>
              <a:t>. </a:t>
            </a:r>
            <a:r>
              <a:rPr lang="en-US" dirty="0">
                <a:hlinkClick r:id="rId6"/>
              </a:rPr>
              <a:t>https://doi.org/10.6028/NIST.SP.800-53r5</a:t>
            </a:r>
            <a:r>
              <a:rPr lang="en-US" dirty="0"/>
              <a:t> </a:t>
            </a:r>
          </a:p>
          <a:p>
            <a:r>
              <a:rPr lang="en-US" dirty="0" err="1"/>
              <a:t>SonarSource</a:t>
            </a:r>
            <a:r>
              <a:rPr lang="en-US" dirty="0"/>
              <a:t>. (2024). </a:t>
            </a:r>
            <a:r>
              <a:rPr lang="en-US" i="1" dirty="0"/>
              <a:t>SonarQube documentation</a:t>
            </a:r>
            <a:r>
              <a:rPr lang="en-US" dirty="0"/>
              <a:t>. </a:t>
            </a:r>
            <a:r>
              <a:rPr lang="en-US" dirty="0">
                <a:hlinkClick r:id="rId7"/>
              </a:rPr>
              <a:t>https://docs.sonarsource.com/sonarqube/</a:t>
            </a:r>
            <a:r>
              <a:rPr lang="en-US" dirty="0"/>
              <a:t> </a:t>
            </a:r>
          </a:p>
          <a:p>
            <a:r>
              <a:rPr lang="en-US" dirty="0" err="1"/>
              <a:t>Checkmarx</a:t>
            </a:r>
            <a:r>
              <a:rPr lang="en-US" dirty="0"/>
              <a:t>. (2024). </a:t>
            </a:r>
            <a:r>
              <a:rPr lang="en-US" i="1" dirty="0" err="1"/>
              <a:t>Checkmarx</a:t>
            </a:r>
            <a:r>
              <a:rPr lang="en-US" i="1" dirty="0"/>
              <a:t> SAST documentation</a:t>
            </a:r>
            <a:r>
              <a:rPr lang="en-US" dirty="0"/>
              <a:t>. https://</a:t>
            </a:r>
            <a:r>
              <a:rPr lang="en-US" dirty="0" err="1"/>
              <a:t>checkmarx.com</a:t>
            </a:r>
            <a:r>
              <a:rPr lang="en-US" dirty="0"/>
              <a:t>/resource/documents/ </a:t>
            </a:r>
          </a:p>
        </p:txBody>
      </p:sp>
      <p:pic>
        <p:nvPicPr>
          <p:cNvPr id="239" name="Google Shape;239;p14" descr="Green Pace logo"/>
          <p:cNvPicPr preferRelativeResize="0"/>
          <p:nvPr/>
        </p:nvPicPr>
        <p:blipFill>
          <a:blip r:embed="rId8">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9267F6D1A260A4394C18F5AF72445EA" ma:contentTypeVersion="3" ma:contentTypeDescription="Create a new document." ma:contentTypeScope="" ma:versionID="d6a723735a0ade9a92961b83aee31dda">
  <xsd:schema xmlns:xsd="http://www.w3.org/2001/XMLSchema" xmlns:xs="http://www.w3.org/2001/XMLSchema" xmlns:p="http://schemas.microsoft.com/office/2006/metadata/properties" targetNamespace="http://schemas.microsoft.com/office/2006/metadata/properties" ma:root="true" ma:fieldsID="e345bd7673956a623930e5662e321f3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398236C-7FA9-40C9-B456-AA158A506A32}">
  <ds:schemaRefs>
    <ds:schemaRef ds:uri="http://schemas.microsoft.com/sharepoint/v3/contenttype/forms"/>
  </ds:schemaRefs>
</ds:datastoreItem>
</file>

<file path=customXml/itemProps2.xml><?xml version="1.0" encoding="utf-8"?>
<ds:datastoreItem xmlns:ds="http://schemas.openxmlformats.org/officeDocument/2006/customXml" ds:itemID="{3DB4D054-FC38-43E0-B24C-8E3420B75B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3E9B35DD-16B6-4415-A905-CDACA4FC6DBE}">
  <ds:schemaRefs>
    <ds:schemaRef ds:uri="http://schemas.openxmlformats.org/package/2006/metadata/core-properties"/>
    <ds:schemaRef ds:uri="http://www.w3.org/XML/1998/namespace"/>
    <ds:schemaRef ds:uri="http://schemas.microsoft.com/office/2006/documentManagement/types"/>
    <ds:schemaRef ds:uri="http://purl.org/dc/elements/1.1/"/>
    <ds:schemaRef ds:uri="http://purl.org/dc/dcmitype/"/>
    <ds:schemaRef ds:uri="http://schemas.microsoft.com/office/2006/metadata/properties"/>
    <ds:schemaRef ds:uri="http://schemas.microsoft.com/office/infopath/2007/PartnerControls"/>
    <ds:schemaRef ds:uri="http://purl.org/dc/terms/"/>
  </ds:schemaRefs>
</ds:datastoreItem>
</file>

<file path=docProps/app.xml><?xml version="1.0" encoding="utf-8"?>
<Properties xmlns="http://schemas.openxmlformats.org/officeDocument/2006/extended-properties" xmlns:vt="http://schemas.openxmlformats.org/officeDocument/2006/docPropsVTypes">
  <TotalTime>73</TotalTime>
  <Words>848</Words>
  <Application>Microsoft Macintosh PowerPoint</Application>
  <PresentationFormat>Widescreen</PresentationFormat>
  <Paragraphs>137</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Century Gothic</vt:lpstr>
      <vt:lpstr>Vapor Trail</vt:lpstr>
      <vt:lpstr>Green Pace</vt:lpstr>
      <vt:lpstr>OVERVIEW: DEFENSE IN DEPTH</vt:lpstr>
      <vt:lpstr>THREATS MATRIX</vt:lpstr>
      <vt:lpstr>10 PRINCIPLES</vt:lpstr>
      <vt:lpstr>CODING STANDARDS</vt:lpstr>
      <vt:lpstr>ENCRYPTION POLICIES</vt:lpstr>
      <vt:lpstr>TRIPLE-A POLICIES</vt:lpstr>
      <vt:lpstr>Unit Testing</vt:lpstr>
      <vt:lpstr>Unit Testing</vt:lpstr>
      <vt:lpstr>Unit Testing</vt:lpstr>
      <vt:lpstr>Unit Testing</vt:lpstr>
      <vt:lpstr>Unit Testing</vt:lpstr>
      <vt:lpstr>AUTOMATION SUMMARY</vt:lpstr>
      <vt:lpstr>TOOLS</vt:lpstr>
      <vt:lpstr>RISKS AND BENEFITS</vt:lpstr>
      <vt:lpstr>RECOMMENDATIONS</vt:lpstr>
      <vt:lpstr>CONCLUSIONS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405 Project Two Presentation Template</dc:title>
  <dc:creator>Kathy Shields</dc:creator>
  <cp:lastModifiedBy>Capdevila, Devin</cp:lastModifiedBy>
  <cp:revision>7</cp:revision>
  <dcterms:created xsi:type="dcterms:W3CDTF">2020-08-19T17:59:24Z</dcterms:created>
  <dcterms:modified xsi:type="dcterms:W3CDTF">2026-04-18T20:18:19Z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ies>
</file>